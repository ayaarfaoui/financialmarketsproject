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3" r:id="rId1"/>
  </p:sldMasterIdLst>
  <p:sldIdLst>
    <p:sldId id="257" r:id="rId2"/>
    <p:sldId id="258" r:id="rId3"/>
    <p:sldId id="260" r:id="rId4"/>
    <p:sldId id="259" r:id="rId5"/>
    <p:sldId id="261" r:id="rId6"/>
    <p:sldId id="262" r:id="rId7"/>
    <p:sldId id="263" r:id="rId8"/>
    <p:sldId id="264" r:id="rId9"/>
    <p:sldId id="265" r:id="rId10"/>
    <p:sldId id="266" r:id="rId11"/>
    <p:sldId id="267" r:id="rId12"/>
    <p:sldId id="269" r:id="rId13"/>
    <p:sldId id="270" r:id="rId14"/>
    <p:sldId id="271" r:id="rId15"/>
    <p:sldId id="272" r:id="rId16"/>
    <p:sldId id="275" r:id="rId17"/>
    <p:sldId id="276" r:id="rId18"/>
    <p:sldId id="27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8626608-01C1-4337-8A11-2FF50EFB737C}">
          <p14:sldIdLst>
            <p14:sldId id="257"/>
            <p14:sldId id="258"/>
            <p14:sldId id="260"/>
            <p14:sldId id="259"/>
            <p14:sldId id="261"/>
            <p14:sldId id="262"/>
            <p14:sldId id="263"/>
            <p14:sldId id="264"/>
            <p14:sldId id="265"/>
            <p14:sldId id="266"/>
            <p14:sldId id="267"/>
            <p14:sldId id="269"/>
            <p14:sldId id="270"/>
            <p14:sldId id="271"/>
            <p14:sldId id="272"/>
            <p14:sldId id="275"/>
            <p14:sldId id="276"/>
            <p14:sldId id="2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8664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565478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162246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4FC369-C880-481B-8F48-4218E88EDB11}" type="datetimeFigureOut">
              <a:rPr lang="en-US" smtClean="0"/>
              <a:t>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2475282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4FC369-C880-481B-8F48-4218E88EDB11}" type="datetimeFigureOut">
              <a:rPr lang="en-US" smtClean="0"/>
              <a:t>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497844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4FC369-C880-481B-8F48-4218E88EDB11}" type="datetimeFigureOut">
              <a:rPr lang="en-US" smtClean="0"/>
              <a:t>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100684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4FC369-C880-481B-8F48-4218E88EDB11}" type="datetimeFigureOut">
              <a:rPr lang="en-US" smtClean="0"/>
              <a:t>1/5/2025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460886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4FC369-C880-481B-8F48-4218E88EDB11}" type="datetimeFigureOut">
              <a:rPr lang="en-US" smtClean="0"/>
              <a:t>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562622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4FC369-C880-481B-8F48-4218E88EDB11}" type="datetimeFigureOut">
              <a:rPr lang="en-US" smtClean="0"/>
              <a:t>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880802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4FC369-C880-481B-8F48-4218E88EDB11}" type="datetimeFigureOut">
              <a:rPr lang="en-US" smtClean="0"/>
              <a:t>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203367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692669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1678627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2978626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F4FC369-C880-481B-8F48-4218E88EDB11}" type="datetimeFigureOut">
              <a:rPr lang="en-US" smtClean="0"/>
              <a:t>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496359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F4FC369-C880-481B-8F48-4218E88EDB11}" type="datetimeFigureOut">
              <a:rPr lang="en-US" smtClean="0"/>
              <a:t>1/5/2025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1216995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4211451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F4FC369-C880-481B-8F48-4218E88EDB11}"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2EBBA3-7999-4439-9115-B058E9C4DC7A}" type="slidenum">
              <a:rPr lang="en-US" smtClean="0"/>
              <a:t>‹#›</a:t>
            </a:fld>
            <a:endParaRPr lang="en-US"/>
          </a:p>
        </p:txBody>
      </p:sp>
    </p:spTree>
    <p:extLst>
      <p:ext uri="{BB962C8B-B14F-4D97-AF65-F5344CB8AC3E}">
        <p14:creationId xmlns:p14="http://schemas.microsoft.com/office/powerpoint/2010/main" val="328676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F4FC369-C880-481B-8F48-4218E88EDB11}" type="datetimeFigureOut">
              <a:rPr lang="en-US" smtClean="0"/>
              <a:t>1/5/2025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C2EBBA3-7999-4439-9115-B058E9C4DC7A}" type="slidenum">
              <a:rPr lang="en-US" smtClean="0"/>
              <a:t>‹#›</a:t>
            </a:fld>
            <a:endParaRPr lang="en-US"/>
          </a:p>
        </p:txBody>
      </p:sp>
    </p:spTree>
    <p:extLst>
      <p:ext uri="{BB962C8B-B14F-4D97-AF65-F5344CB8AC3E}">
        <p14:creationId xmlns:p14="http://schemas.microsoft.com/office/powerpoint/2010/main" val="2733389949"/>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 id="2147483876" r:id="rId13"/>
    <p:sldLayoutId id="2147483877" r:id="rId14"/>
    <p:sldLayoutId id="2147483878" r:id="rId15"/>
    <p:sldLayoutId id="2147483879" r:id="rId16"/>
    <p:sldLayoutId id="2147483880"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tack of coins and a globe&#10;&#10;Description automatically generated">
            <a:extLst>
              <a:ext uri="{FF2B5EF4-FFF2-40B4-BE49-F238E27FC236}">
                <a16:creationId xmlns:a16="http://schemas.microsoft.com/office/drawing/2014/main" id="{09077ECE-1505-3B58-F297-C86A4D31FC63}"/>
              </a:ext>
            </a:extLst>
          </p:cNvPr>
          <p:cNvPicPr>
            <a:picLocks noChangeAspect="1"/>
          </p:cNvPicPr>
          <p:nvPr/>
        </p:nvPicPr>
        <p:blipFill>
          <a:blip r:embed="rId2">
            <a:extLst>
              <a:ext uri="{28A0092B-C50C-407E-A947-70E740481C1C}">
                <a14:useLocalDpi xmlns:a14="http://schemas.microsoft.com/office/drawing/2010/main" val="0"/>
              </a:ext>
            </a:extLst>
          </a:blip>
          <a:srcRect t="10835" r="-1" b="10834"/>
          <a:stretch/>
        </p:blipFill>
        <p:spPr>
          <a:xfrm>
            <a:off x="-19221" y="-1"/>
            <a:ext cx="8755258" cy="6858000"/>
          </a:xfrm>
          <a:custGeom>
            <a:avLst/>
            <a:gdLst/>
            <a:ahLst/>
            <a:cxnLst/>
            <a:rect l="l" t="t" r="r" b="b"/>
            <a:pathLst>
              <a:path w="8755258" h="6858000">
                <a:moveTo>
                  <a:pt x="0" y="0"/>
                </a:moveTo>
                <a:lnTo>
                  <a:pt x="5326258" y="0"/>
                </a:lnTo>
                <a:lnTo>
                  <a:pt x="5411299" y="0"/>
                </a:lnTo>
                <a:lnTo>
                  <a:pt x="5411299" y="2150"/>
                </a:lnTo>
                <a:lnTo>
                  <a:pt x="5502714" y="4462"/>
                </a:lnTo>
                <a:cubicBezTo>
                  <a:pt x="7314494" y="96301"/>
                  <a:pt x="8755258" y="1594397"/>
                  <a:pt x="8755258" y="3429000"/>
                </a:cubicBezTo>
                <a:cubicBezTo>
                  <a:pt x="8755258" y="5263603"/>
                  <a:pt x="7314494" y="6761699"/>
                  <a:pt x="5502714" y="6853538"/>
                </a:cubicBezTo>
                <a:lnTo>
                  <a:pt x="5411299" y="6855850"/>
                </a:lnTo>
                <a:lnTo>
                  <a:pt x="5411299" y="6857987"/>
                </a:lnTo>
                <a:lnTo>
                  <a:pt x="5326772" y="6857987"/>
                </a:lnTo>
                <a:lnTo>
                  <a:pt x="5326258" y="6858000"/>
                </a:lnTo>
                <a:lnTo>
                  <a:pt x="5325745" y="6857987"/>
                </a:lnTo>
                <a:lnTo>
                  <a:pt x="0" y="6857987"/>
                </a:lnTo>
                <a:close/>
              </a:path>
            </a:pathLst>
          </a:custGeom>
        </p:spPr>
      </p:pic>
      <p:sp>
        <p:nvSpPr>
          <p:cNvPr id="6" name="TextBox 5">
            <a:extLst>
              <a:ext uri="{FF2B5EF4-FFF2-40B4-BE49-F238E27FC236}">
                <a16:creationId xmlns:a16="http://schemas.microsoft.com/office/drawing/2014/main" id="{5FC573EC-A3D4-7F74-F397-EF05A4FA3DCD}"/>
              </a:ext>
            </a:extLst>
          </p:cNvPr>
          <p:cNvSpPr txBox="1"/>
          <p:nvPr/>
        </p:nvSpPr>
        <p:spPr>
          <a:xfrm>
            <a:off x="8169074" y="1061830"/>
            <a:ext cx="1966452" cy="461665"/>
          </a:xfrm>
          <a:prstGeom prst="rect">
            <a:avLst/>
          </a:prstGeom>
          <a:noFill/>
        </p:spPr>
        <p:txBody>
          <a:bodyPr wrap="square" rtlCol="0">
            <a:spAutoFit/>
          </a:bodyPr>
          <a:lstStyle/>
          <a:p>
            <a:r>
              <a:rPr lang="fr-FR" sz="2400" b="1" dirty="0" err="1">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STXingkai" panose="020B0503020204020204" pitchFamily="2" charset="-122"/>
                <a:cs typeface="Times New Roman" panose="02020603050405020304" pitchFamily="18" charset="0"/>
              </a:rPr>
              <a:t>Arfaoui</a:t>
            </a:r>
            <a:r>
              <a:rPr lang="fr-FR" b="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STXingkai" panose="020B0503020204020204" pitchFamily="2" charset="-122"/>
                <a:cs typeface="Times New Roman" panose="02020603050405020304" pitchFamily="18" charset="0"/>
              </a:rPr>
              <a:t> </a:t>
            </a:r>
            <a:r>
              <a:rPr lang="fr-FR" sz="2400" b="1" dirty="0" err="1">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STXingkai" panose="020B0503020204020204" pitchFamily="2" charset="-122"/>
                <a:cs typeface="Times New Roman" panose="02020603050405020304" pitchFamily="18" charset="0"/>
              </a:rPr>
              <a:t>Eya</a:t>
            </a:r>
            <a:r>
              <a:rPr lang="fr-FR" b="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ea typeface="STXingkai" panose="020B0503020204020204" pitchFamily="2" charset="-122"/>
                <a:cs typeface="Times New Roman" panose="02020603050405020304" pitchFamily="18" charset="0"/>
              </a:rPr>
              <a:t> </a:t>
            </a:r>
          </a:p>
        </p:txBody>
      </p:sp>
      <p:sp>
        <p:nvSpPr>
          <p:cNvPr id="7" name="TextBox 6">
            <a:extLst>
              <a:ext uri="{FF2B5EF4-FFF2-40B4-BE49-F238E27FC236}">
                <a16:creationId xmlns:a16="http://schemas.microsoft.com/office/drawing/2014/main" id="{BB3BD348-A506-FB61-BDBB-A09F30CC8A38}"/>
              </a:ext>
            </a:extLst>
          </p:cNvPr>
          <p:cNvSpPr txBox="1"/>
          <p:nvPr/>
        </p:nvSpPr>
        <p:spPr>
          <a:xfrm>
            <a:off x="8506178" y="1631816"/>
            <a:ext cx="2238021" cy="461665"/>
          </a:xfrm>
          <a:prstGeom prst="rect">
            <a:avLst/>
          </a:prstGeom>
          <a:noFill/>
        </p:spPr>
        <p:txBody>
          <a:bodyPr wrap="square" rtlCol="0">
            <a:spAutoFit/>
          </a:bodyPr>
          <a:lstStyle/>
          <a:p>
            <a:r>
              <a:rPr lang="fr-FR" sz="2400" b="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Ben Attia Isra</a:t>
            </a:r>
          </a:p>
        </p:txBody>
      </p:sp>
      <p:sp>
        <p:nvSpPr>
          <p:cNvPr id="8" name="TextBox 7">
            <a:extLst>
              <a:ext uri="{FF2B5EF4-FFF2-40B4-BE49-F238E27FC236}">
                <a16:creationId xmlns:a16="http://schemas.microsoft.com/office/drawing/2014/main" id="{4BD54C87-1450-BBBD-93D9-95EF927F8BFC}"/>
              </a:ext>
            </a:extLst>
          </p:cNvPr>
          <p:cNvSpPr txBox="1"/>
          <p:nvPr/>
        </p:nvSpPr>
        <p:spPr>
          <a:xfrm>
            <a:off x="8799401" y="2859618"/>
            <a:ext cx="3346461" cy="461665"/>
          </a:xfrm>
          <a:prstGeom prst="rect">
            <a:avLst/>
          </a:prstGeom>
          <a:noFill/>
        </p:spPr>
        <p:txBody>
          <a:bodyPr wrap="square" rtlCol="0">
            <a:spAutoFit/>
          </a:bodyPr>
          <a:lstStyle/>
          <a:p>
            <a:r>
              <a:rPr lang="fr-FR" sz="2300" b="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Labidi Mohamed Aziz</a:t>
            </a:r>
          </a:p>
        </p:txBody>
      </p:sp>
      <p:sp>
        <p:nvSpPr>
          <p:cNvPr id="9" name="TextBox 8">
            <a:extLst>
              <a:ext uri="{FF2B5EF4-FFF2-40B4-BE49-F238E27FC236}">
                <a16:creationId xmlns:a16="http://schemas.microsoft.com/office/drawing/2014/main" id="{F770D107-9F2E-6838-B2E1-8359A8A478E0}"/>
              </a:ext>
            </a:extLst>
          </p:cNvPr>
          <p:cNvSpPr txBox="1"/>
          <p:nvPr/>
        </p:nvSpPr>
        <p:spPr>
          <a:xfrm>
            <a:off x="8720754" y="2181312"/>
            <a:ext cx="2542634" cy="461665"/>
          </a:xfrm>
          <a:prstGeom prst="rect">
            <a:avLst/>
          </a:prstGeom>
          <a:noFill/>
        </p:spPr>
        <p:txBody>
          <a:bodyPr wrap="square" rtlCol="0">
            <a:spAutoFit/>
          </a:bodyPr>
          <a:lstStyle/>
          <a:p>
            <a:r>
              <a:rPr lang="fr-FR" sz="2400" b="1" dirty="0">
                <a:solidFill>
                  <a:schemeClr val="bg1">
                    <a:lumMod val="9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Lassoued Malek</a:t>
            </a:r>
          </a:p>
        </p:txBody>
      </p:sp>
      <p:sp>
        <p:nvSpPr>
          <p:cNvPr id="11" name="TextBox 10">
            <a:extLst>
              <a:ext uri="{FF2B5EF4-FFF2-40B4-BE49-F238E27FC236}">
                <a16:creationId xmlns:a16="http://schemas.microsoft.com/office/drawing/2014/main" id="{2D60207D-3987-CFC4-2ECE-674974F76812}"/>
              </a:ext>
            </a:extLst>
          </p:cNvPr>
          <p:cNvSpPr txBox="1"/>
          <p:nvPr/>
        </p:nvSpPr>
        <p:spPr>
          <a:xfrm>
            <a:off x="8747359" y="3571013"/>
            <a:ext cx="2542634" cy="707886"/>
          </a:xfrm>
          <a:prstGeom prst="rect">
            <a:avLst/>
          </a:prstGeom>
          <a:noFill/>
        </p:spPr>
        <p:txBody>
          <a:bodyPr wrap="square" rtlCol="0">
            <a:spAutoFit/>
          </a:bodyPr>
          <a:lstStyle/>
          <a:p>
            <a:r>
              <a:rPr lang="fr-FR" sz="2000" b="1" dirty="0">
                <a:solidFill>
                  <a:schemeClr val="accent3">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Financial </a:t>
            </a:r>
            <a:r>
              <a:rPr lang="fr-FR" sz="2000" b="1" dirty="0" err="1">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Markets</a:t>
            </a:r>
            <a:endPar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Project Work :</a:t>
            </a:r>
          </a:p>
        </p:txBody>
      </p:sp>
      <p:sp>
        <p:nvSpPr>
          <p:cNvPr id="12" name="TextBox 11">
            <a:extLst>
              <a:ext uri="{FF2B5EF4-FFF2-40B4-BE49-F238E27FC236}">
                <a16:creationId xmlns:a16="http://schemas.microsoft.com/office/drawing/2014/main" id="{89A846B5-E33E-C87F-D944-395B0E531241}"/>
              </a:ext>
            </a:extLst>
          </p:cNvPr>
          <p:cNvSpPr txBox="1"/>
          <p:nvPr/>
        </p:nvSpPr>
        <p:spPr>
          <a:xfrm>
            <a:off x="8606380" y="4388094"/>
            <a:ext cx="3058291" cy="707886"/>
          </a:xfrm>
          <a:prstGeom prst="rect">
            <a:avLst/>
          </a:prstGeom>
          <a:noFill/>
        </p:spPr>
        <p:txBody>
          <a:bodyPr wrap="square" rtlCol="0">
            <a:spAutoFit/>
          </a:bodyPr>
          <a:lstStyle/>
          <a:p>
            <a:r>
              <a:rPr lang="fr-FR" sz="2000" b="1" dirty="0">
                <a:solidFill>
                  <a:schemeClr val="accent3">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Portfolio </a:t>
            </a:r>
            <a:r>
              <a:rPr lang="fr-FR" sz="2000" b="1" dirty="0" err="1">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Optimization</a:t>
            </a:r>
            <a:r>
              <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000" b="1" dirty="0" err="1">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strategy</a:t>
            </a:r>
            <a:r>
              <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sp>
        <p:nvSpPr>
          <p:cNvPr id="13" name="TextBox 12">
            <a:extLst>
              <a:ext uri="{FF2B5EF4-FFF2-40B4-BE49-F238E27FC236}">
                <a16:creationId xmlns:a16="http://schemas.microsoft.com/office/drawing/2014/main" id="{05CAC45C-B30D-06C9-E44F-8455451CD853}"/>
              </a:ext>
            </a:extLst>
          </p:cNvPr>
          <p:cNvSpPr txBox="1"/>
          <p:nvPr/>
        </p:nvSpPr>
        <p:spPr>
          <a:xfrm>
            <a:off x="8169074" y="5145380"/>
            <a:ext cx="2723044" cy="707886"/>
          </a:xfrm>
          <a:prstGeom prst="rect">
            <a:avLst/>
          </a:prstGeom>
          <a:noFill/>
        </p:spPr>
        <p:txBody>
          <a:bodyPr wrap="square" rtlCol="0">
            <a:spAutoFit/>
          </a:bodyPr>
          <a:lstStyle/>
          <a:p>
            <a:r>
              <a:rPr lang="fr-FR" sz="2000" b="1" dirty="0">
                <a:solidFill>
                  <a:schemeClr val="accent2">
                    <a:lumMod val="20000"/>
                    <a:lumOff val="8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2024-2025</a:t>
            </a:r>
          </a:p>
          <a:p>
            <a:r>
              <a:rPr lang="fr-FR" sz="2000" b="1" dirty="0">
                <a:solidFill>
                  <a:schemeClr val="accent6">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Tunis Business School</a:t>
            </a:r>
          </a:p>
        </p:txBody>
      </p:sp>
    </p:spTree>
    <p:extLst>
      <p:ext uri="{BB962C8B-B14F-4D97-AF65-F5344CB8AC3E}">
        <p14:creationId xmlns:p14="http://schemas.microsoft.com/office/powerpoint/2010/main" val="1907405254"/>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8FADD5-7190-4914-A8BB-93BFAC72F0D5}"/>
              </a:ext>
            </a:extLst>
          </p:cNvPr>
          <p:cNvSpPr>
            <a:spLocks noGrp="1"/>
          </p:cNvSpPr>
          <p:nvPr>
            <p:ph type="title"/>
          </p:nvPr>
        </p:nvSpPr>
        <p:spPr>
          <a:xfrm>
            <a:off x="1154953" y="1044388"/>
            <a:ext cx="5864411" cy="1447800"/>
          </a:xfrm>
          <a:effectLst>
            <a:outerShdw blurRad="50800" dist="38100" dir="2700000" algn="tl" rotWithShape="0">
              <a:prstClr val="black">
                <a:alpha val="40000"/>
              </a:prstClr>
            </a:outerShdw>
          </a:effectLst>
        </p:spPr>
        <p:txBody>
          <a:bodyPr/>
          <a:lstStyle/>
          <a:p>
            <a:pPr algn="ctr"/>
            <a:r>
              <a:rPr lang="en-US" sz="9600" b="0" i="0" dirty="0">
                <a:solidFill>
                  <a:schemeClr val="accent6">
                    <a:lumMod val="60000"/>
                    <a:lumOff val="40000"/>
                  </a:schemeClr>
                </a:solidFill>
                <a:effectLst>
                  <a:outerShdw blurRad="38100" dist="38100" dir="2700000" algn="tl">
                    <a:srgbClr val="000000">
                      <a:alpha val="43137"/>
                    </a:srgbClr>
                  </a:outerShdw>
                </a:effectLst>
                <a:latin typeface="gg sans"/>
              </a:rPr>
              <a:t>F</a:t>
            </a:r>
            <a:r>
              <a:rPr lang="en-US" sz="2800" b="0" i="0" dirty="0">
                <a:effectLst>
                  <a:outerShdw blurRad="38100" dist="38100" dir="2700000" algn="tl">
                    <a:srgbClr val="000000">
                      <a:alpha val="43137"/>
                    </a:srgbClr>
                  </a:outerShdw>
                </a:effectLst>
                <a:latin typeface="gg sans"/>
              </a:rPr>
              <a:t>inancial Markets Project Objective :</a:t>
            </a:r>
            <a:endParaRPr lang="en-US" sz="2800" dirty="0">
              <a:effectLst>
                <a:outerShdw blurRad="38100" dist="38100" dir="2700000" algn="tl">
                  <a:srgbClr val="000000">
                    <a:alpha val="43137"/>
                  </a:srgbClr>
                </a:outerShdw>
              </a:effectLst>
            </a:endParaRPr>
          </a:p>
        </p:txBody>
      </p:sp>
      <p:pic>
        <p:nvPicPr>
          <p:cNvPr id="12" name="Content Placeholder 11">
            <a:extLst>
              <a:ext uri="{FF2B5EF4-FFF2-40B4-BE49-F238E27FC236}">
                <a16:creationId xmlns:a16="http://schemas.microsoft.com/office/drawing/2014/main" id="{3F158844-DAAB-4F57-87D5-E7C6B12434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0649" y="2727065"/>
            <a:ext cx="4089373" cy="2739613"/>
          </a:xfrm>
          <a:prstGeom prst="roundRect">
            <a:avLst>
              <a:gd name="adj" fmla="val 11728"/>
            </a:avLst>
          </a:prstGeom>
          <a:solidFill>
            <a:srgbClr val="FFFFFF">
              <a:shade val="85000"/>
            </a:srgbClr>
          </a:solidFill>
          <a:ln>
            <a:noFill/>
          </a:ln>
          <a:effectLst>
            <a:reflection blurRad="12700" stA="38000" endPos="28000" dist="5000" dir="5400000" sy="-100000" algn="bl" rotWithShape="0"/>
          </a:effectLst>
        </p:spPr>
      </p:pic>
      <p:sp>
        <p:nvSpPr>
          <p:cNvPr id="6" name="Text Placeholder 5">
            <a:extLst>
              <a:ext uri="{FF2B5EF4-FFF2-40B4-BE49-F238E27FC236}">
                <a16:creationId xmlns:a16="http://schemas.microsoft.com/office/drawing/2014/main" id="{1F8826CD-44F2-406B-9D83-23158A5020A1}"/>
              </a:ext>
            </a:extLst>
          </p:cNvPr>
          <p:cNvSpPr>
            <a:spLocks noGrp="1"/>
          </p:cNvSpPr>
          <p:nvPr>
            <p:ph type="body" sz="half" idx="2"/>
          </p:nvPr>
        </p:nvSpPr>
        <p:spPr>
          <a:xfrm>
            <a:off x="1154953" y="2727065"/>
            <a:ext cx="5864412" cy="2895599"/>
          </a:xfrm>
        </p:spPr>
        <p:txBody>
          <a:bodyPr>
            <a:normAutofit/>
          </a:bodyPr>
          <a:lstStyle/>
          <a:p>
            <a:pPr>
              <a:lnSpc>
                <a:spcPct val="150000"/>
              </a:lnSpc>
            </a:pPr>
            <a:r>
              <a:rPr lang="en-US" sz="1600" b="0" i="0" dirty="0">
                <a:solidFill>
                  <a:schemeClr val="tx1"/>
                </a:solidFill>
                <a:effectLst/>
                <a:latin typeface="gg sans"/>
              </a:rPr>
              <a:t>The project aims to construct and analyze a diversified portfolio of 10 stocks on the Tunis Stock Exchange over three months. It involves applying technical and fundamental analysis, optimizing the portfolio using the Markowitz Model, and estimating returns with CAPM. Performance will be evaluated using metrics like Sharpe Ratio, and results benchmarked against indices. The goal is to achieve optimal performance within practical and theoretical constraints.</a:t>
            </a:r>
            <a:endParaRPr lang="en-US" sz="1600" dirty="0">
              <a:solidFill>
                <a:schemeClr val="tx1"/>
              </a:solidFill>
            </a:endParaRPr>
          </a:p>
        </p:txBody>
      </p:sp>
    </p:spTree>
    <p:extLst>
      <p:ext uri="{BB962C8B-B14F-4D97-AF65-F5344CB8AC3E}">
        <p14:creationId xmlns:p14="http://schemas.microsoft.com/office/powerpoint/2010/main" val="1366493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27B0A-070A-4FFF-8EFF-D9289EBBFEB5}"/>
              </a:ext>
            </a:extLst>
          </p:cNvPr>
          <p:cNvSpPr>
            <a:spLocks noGrp="1"/>
          </p:cNvSpPr>
          <p:nvPr>
            <p:ph type="title"/>
          </p:nvPr>
        </p:nvSpPr>
        <p:spPr>
          <a:xfrm>
            <a:off x="1715293" y="973668"/>
            <a:ext cx="8761413" cy="706964"/>
          </a:xfrm>
        </p:spPr>
        <p:txBody>
          <a:bodyPr/>
          <a:lstStyle/>
          <a:p>
            <a:pPr algn="ctr"/>
            <a:r>
              <a:rPr lang="en-US" b="0" i="0" spc="300" dirty="0">
                <a:effectLst/>
                <a:latin typeface="gg sans"/>
              </a:rPr>
              <a:t>Brokers Contacted:</a:t>
            </a:r>
            <a:endParaRPr lang="en-US" spc="300" dirty="0"/>
          </a:p>
        </p:txBody>
      </p:sp>
      <p:sp>
        <p:nvSpPr>
          <p:cNvPr id="3" name="Content Placeholder 2">
            <a:extLst>
              <a:ext uri="{FF2B5EF4-FFF2-40B4-BE49-F238E27FC236}">
                <a16:creationId xmlns:a16="http://schemas.microsoft.com/office/drawing/2014/main" id="{7D349DCF-DA4B-4AA4-AEE4-4C5B7490D94D}"/>
              </a:ext>
            </a:extLst>
          </p:cNvPr>
          <p:cNvSpPr>
            <a:spLocks noGrp="1"/>
          </p:cNvSpPr>
          <p:nvPr>
            <p:ph idx="1"/>
          </p:nvPr>
        </p:nvSpPr>
        <p:spPr/>
        <p:txBody>
          <a:bodyPr>
            <a:normAutofit/>
          </a:bodyPr>
          <a:lstStyle/>
          <a:p>
            <a:pPr marL="400050" indent="-400050">
              <a:lnSpc>
                <a:spcPct val="200000"/>
              </a:lnSpc>
              <a:buFont typeface="+mj-lt"/>
              <a:buAutoNum type="romanUcPeriod"/>
            </a:pPr>
            <a:r>
              <a:rPr lang="en-US" b="0" i="0" dirty="0" err="1">
                <a:effectLst/>
                <a:latin typeface="gg sans"/>
              </a:rPr>
              <a:t>Attijari</a:t>
            </a:r>
            <a:r>
              <a:rPr lang="en-US" b="0" i="0" dirty="0">
                <a:effectLst/>
                <a:latin typeface="gg sans"/>
              </a:rPr>
              <a:t> </a:t>
            </a:r>
            <a:r>
              <a:rPr lang="en-US" b="0" i="0" dirty="0" err="1">
                <a:effectLst/>
                <a:latin typeface="gg sans"/>
              </a:rPr>
              <a:t>Intermédiation</a:t>
            </a:r>
            <a:r>
              <a:rPr lang="en-US" b="0" i="0" dirty="0">
                <a:effectLst/>
                <a:latin typeface="gg sans"/>
              </a:rPr>
              <a:t>: </a:t>
            </a:r>
            <a:r>
              <a:rPr lang="en-US" dirty="0">
                <a:latin typeface="gg sans"/>
              </a:rPr>
              <a:t>4</a:t>
            </a:r>
            <a:r>
              <a:rPr lang="en-US" b="0" i="0" dirty="0">
                <a:effectLst/>
                <a:latin typeface="gg sans"/>
              </a:rPr>
              <a:t> basis points (after negotiations)</a:t>
            </a:r>
          </a:p>
          <a:p>
            <a:pPr>
              <a:lnSpc>
                <a:spcPct val="200000"/>
              </a:lnSpc>
              <a:buFont typeface="+mj-lt"/>
              <a:buAutoNum type="romanUcPeriod"/>
            </a:pPr>
            <a:r>
              <a:rPr lang="en-US" b="0" i="0" dirty="0" err="1">
                <a:effectLst/>
                <a:latin typeface="gg sans"/>
              </a:rPr>
              <a:t>Tunisie</a:t>
            </a:r>
            <a:r>
              <a:rPr lang="en-US" b="0" i="0" dirty="0">
                <a:effectLst/>
                <a:latin typeface="gg sans"/>
              </a:rPr>
              <a:t> </a:t>
            </a:r>
            <a:r>
              <a:rPr lang="en-US" b="0" i="0" dirty="0" err="1">
                <a:effectLst/>
                <a:latin typeface="gg sans"/>
              </a:rPr>
              <a:t>Valeurs</a:t>
            </a:r>
            <a:r>
              <a:rPr lang="en-US" b="0" i="0" dirty="0">
                <a:effectLst/>
                <a:latin typeface="gg sans"/>
              </a:rPr>
              <a:t>: 6 basis points (after negotiations)</a:t>
            </a:r>
          </a:p>
          <a:p>
            <a:pPr>
              <a:lnSpc>
                <a:spcPct val="200000"/>
              </a:lnSpc>
              <a:buFont typeface="+mj-lt"/>
              <a:buAutoNum type="romanUcPeriod"/>
            </a:pPr>
            <a:r>
              <a:rPr lang="en-US" b="0" i="0" dirty="0">
                <a:effectLst/>
                <a:latin typeface="gg sans"/>
              </a:rPr>
              <a:t>BNA </a:t>
            </a:r>
            <a:r>
              <a:rPr lang="en-US" b="0" i="0" dirty="0" err="1">
                <a:effectLst/>
                <a:latin typeface="gg sans"/>
              </a:rPr>
              <a:t>Capitaux</a:t>
            </a:r>
            <a:r>
              <a:rPr lang="en-US" b="0" i="0" dirty="0">
                <a:effectLst/>
                <a:latin typeface="gg sans"/>
              </a:rPr>
              <a:t>: 7 basis points (after negotiations)</a:t>
            </a:r>
          </a:p>
          <a:p>
            <a:pPr>
              <a:lnSpc>
                <a:spcPct val="200000"/>
              </a:lnSpc>
              <a:buFont typeface="+mj-lt"/>
              <a:buAutoNum type="romanUcPeriod"/>
            </a:pPr>
            <a:r>
              <a:rPr lang="en-US" b="1" i="0" u="sng" dirty="0">
                <a:solidFill>
                  <a:srgbClr val="7030A0"/>
                </a:solidFill>
                <a:effectLst/>
                <a:latin typeface="gg sans"/>
              </a:rPr>
              <a:t>MAC SA: 2 basis points </a:t>
            </a:r>
          </a:p>
          <a:p>
            <a:pPr>
              <a:lnSpc>
                <a:spcPct val="200000"/>
              </a:lnSpc>
              <a:buFont typeface="+mj-lt"/>
              <a:buAutoNum type="romanUcPeriod"/>
            </a:pPr>
            <a:r>
              <a:rPr lang="en-US" b="0" i="0" dirty="0">
                <a:effectLst/>
                <a:latin typeface="gg sans"/>
              </a:rPr>
              <a:t>Amen Invest, BH Invest, STB Finance: Not </a:t>
            </a:r>
            <a:r>
              <a:rPr lang="en-US" dirty="0">
                <a:latin typeface="gg sans"/>
              </a:rPr>
              <a:t>contacted after choosing MAC SA</a:t>
            </a:r>
            <a:r>
              <a:rPr lang="en-US" b="0" i="0" dirty="0">
                <a:effectLst/>
                <a:latin typeface="gg sans"/>
              </a:rPr>
              <a:t>.</a:t>
            </a:r>
            <a:endParaRPr lang="en-US" dirty="0"/>
          </a:p>
        </p:txBody>
      </p:sp>
    </p:spTree>
    <p:extLst>
      <p:ext uri="{BB962C8B-B14F-4D97-AF65-F5344CB8AC3E}">
        <p14:creationId xmlns:p14="http://schemas.microsoft.com/office/powerpoint/2010/main" val="1779151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E1DDC4-7F40-4F33-AB11-23CFCE70FF51}"/>
              </a:ext>
            </a:extLst>
          </p:cNvPr>
          <p:cNvSpPr>
            <a:spLocks noGrp="1"/>
          </p:cNvSpPr>
          <p:nvPr>
            <p:ph type="title"/>
          </p:nvPr>
        </p:nvSpPr>
        <p:spPr>
          <a:xfrm>
            <a:off x="1393637" y="616120"/>
            <a:ext cx="9404723" cy="1400530"/>
          </a:xfrm>
        </p:spPr>
        <p:txBody>
          <a:bodyPr/>
          <a:lstStyle/>
          <a:p>
            <a:pPr algn="ctr"/>
            <a:r>
              <a:rPr lang="en-US" b="0" i="0" spc="600" dirty="0">
                <a:effectLst/>
                <a:latin typeface="gg sans"/>
              </a:rPr>
              <a:t>Brokerage choice:</a:t>
            </a:r>
            <a:endParaRPr lang="en-US" spc="600" dirty="0"/>
          </a:p>
        </p:txBody>
      </p:sp>
      <p:sp>
        <p:nvSpPr>
          <p:cNvPr id="6" name="Content Placeholder 5">
            <a:extLst>
              <a:ext uri="{FF2B5EF4-FFF2-40B4-BE49-F238E27FC236}">
                <a16:creationId xmlns:a16="http://schemas.microsoft.com/office/drawing/2014/main" id="{CD817217-DAF2-488A-A179-97218E276C93}"/>
              </a:ext>
            </a:extLst>
          </p:cNvPr>
          <p:cNvSpPr>
            <a:spLocks noGrp="1"/>
          </p:cNvSpPr>
          <p:nvPr>
            <p:ph idx="1"/>
          </p:nvPr>
        </p:nvSpPr>
        <p:spPr>
          <a:xfrm>
            <a:off x="687481" y="2366273"/>
            <a:ext cx="10817038" cy="1900517"/>
          </a:xfrm>
        </p:spPr>
        <p:txBody>
          <a:bodyPr/>
          <a:lstStyle/>
          <a:p>
            <a:pPr marL="0" indent="0" algn="ctr">
              <a:lnSpc>
                <a:spcPct val="150000"/>
              </a:lnSpc>
              <a:buNone/>
            </a:pPr>
            <a:r>
              <a:rPr lang="en-US" b="0" i="0" dirty="0">
                <a:effectLst/>
                <a:latin typeface="gg sans"/>
              </a:rPr>
              <a:t>We contacted four brokerage firms to negotiate fees and services. After thorough discussions, MAC SA was selected as our partner due to its offer of the lowest fees at </a:t>
            </a:r>
            <a:r>
              <a:rPr lang="en-US" b="0" i="1" u="sng" dirty="0">
                <a:effectLst>
                  <a:outerShdw blurRad="38100" dist="38100" dir="2700000" algn="tl">
                    <a:srgbClr val="000000">
                      <a:alpha val="43137"/>
                    </a:srgbClr>
                  </a:outerShdw>
                </a:effectLst>
                <a:latin typeface="gg sans"/>
              </a:rPr>
              <a:t>2 basis points</a:t>
            </a:r>
            <a:r>
              <a:rPr lang="en-US" b="0" dirty="0">
                <a:latin typeface="gg sans"/>
              </a:rPr>
              <a:t> </a:t>
            </a:r>
            <a:r>
              <a:rPr lang="en-US" b="0" i="0" dirty="0">
                <a:effectLst/>
                <a:latin typeface="gg sans"/>
              </a:rPr>
              <a:t>and its strong reputation for ethical and transparent practices. MAC SA's alignment with our values ensured both cost efficiency and reliability.</a:t>
            </a:r>
            <a:endParaRPr lang="en-US" dirty="0"/>
          </a:p>
        </p:txBody>
      </p:sp>
      <p:pic>
        <p:nvPicPr>
          <p:cNvPr id="3" name="Picture 2">
            <a:extLst>
              <a:ext uri="{FF2B5EF4-FFF2-40B4-BE49-F238E27FC236}">
                <a16:creationId xmlns:a16="http://schemas.microsoft.com/office/drawing/2014/main" id="{569AE150-EEBF-42A3-8AFD-04E36E460A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455" y="4266790"/>
            <a:ext cx="8577089" cy="1892812"/>
          </a:xfrm>
          <a:prstGeom prst="rect">
            <a:avLst/>
          </a:prstGeom>
        </p:spPr>
      </p:pic>
    </p:spTree>
    <p:extLst>
      <p:ext uri="{BB962C8B-B14F-4D97-AF65-F5344CB8AC3E}">
        <p14:creationId xmlns:p14="http://schemas.microsoft.com/office/powerpoint/2010/main" val="464766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FBCE29-36B7-4657-A9C0-0CD22B7F5CA7}"/>
              </a:ext>
            </a:extLst>
          </p:cNvPr>
          <p:cNvSpPr>
            <a:spLocks noGrp="1"/>
          </p:cNvSpPr>
          <p:nvPr>
            <p:ph type="title"/>
          </p:nvPr>
        </p:nvSpPr>
        <p:spPr>
          <a:xfrm>
            <a:off x="1585501" y="2561166"/>
            <a:ext cx="3865134" cy="1735667"/>
          </a:xfrm>
        </p:spPr>
        <p:txBody>
          <a:bodyPr>
            <a:normAutofit fontScale="90000"/>
          </a:bodyPr>
          <a:lstStyle/>
          <a:p>
            <a:pPr>
              <a:lnSpc>
                <a:spcPct val="150000"/>
              </a:lnSpc>
            </a:pPr>
            <a:r>
              <a:rPr lang="en-US" b="1" i="0" dirty="0">
                <a:solidFill>
                  <a:schemeClr val="accent6">
                    <a:lumMod val="60000"/>
                    <a:lumOff val="40000"/>
                  </a:schemeClr>
                </a:solidFill>
                <a:effectLst/>
                <a:latin typeface="gg sans"/>
              </a:rPr>
              <a:t>S</a:t>
            </a:r>
            <a:r>
              <a:rPr lang="en-US" b="1" i="0" dirty="0">
                <a:effectLst/>
                <a:latin typeface="gg sans"/>
              </a:rPr>
              <a:t>tock</a:t>
            </a:r>
            <a:br>
              <a:rPr lang="en-US" b="1" i="0" dirty="0">
                <a:effectLst/>
                <a:latin typeface="gg sans"/>
              </a:rPr>
            </a:br>
            <a:r>
              <a:rPr lang="en-US" b="1" i="0" dirty="0">
                <a:solidFill>
                  <a:schemeClr val="accent6">
                    <a:lumMod val="60000"/>
                    <a:lumOff val="40000"/>
                  </a:schemeClr>
                </a:solidFill>
                <a:effectLst/>
                <a:latin typeface="gg sans"/>
              </a:rPr>
              <a:t>S</a:t>
            </a:r>
            <a:r>
              <a:rPr lang="en-US" b="1" i="0" dirty="0">
                <a:effectLst/>
                <a:latin typeface="gg sans"/>
              </a:rPr>
              <a:t>election </a:t>
            </a:r>
            <a:br>
              <a:rPr lang="en-US" b="1" i="0" dirty="0">
                <a:effectLst/>
                <a:latin typeface="gg sans"/>
              </a:rPr>
            </a:br>
            <a:r>
              <a:rPr lang="en-US" b="1" i="0" dirty="0">
                <a:solidFill>
                  <a:schemeClr val="accent6">
                    <a:lumMod val="60000"/>
                    <a:lumOff val="40000"/>
                  </a:schemeClr>
                </a:solidFill>
                <a:effectLst/>
                <a:latin typeface="gg sans"/>
              </a:rPr>
              <a:t>S</a:t>
            </a:r>
            <a:r>
              <a:rPr lang="en-US" b="1" i="0" dirty="0">
                <a:effectLst/>
                <a:latin typeface="gg sans"/>
              </a:rPr>
              <a:t>trategy :</a:t>
            </a:r>
            <a:endParaRPr lang="en-US" b="1" dirty="0"/>
          </a:p>
        </p:txBody>
      </p:sp>
      <p:sp>
        <p:nvSpPr>
          <p:cNvPr id="8" name="Text Placeholder 7">
            <a:extLst>
              <a:ext uri="{FF2B5EF4-FFF2-40B4-BE49-F238E27FC236}">
                <a16:creationId xmlns:a16="http://schemas.microsoft.com/office/drawing/2014/main" id="{865F8248-9CD1-4293-812C-23E7E93BE29B}"/>
              </a:ext>
            </a:extLst>
          </p:cNvPr>
          <p:cNvSpPr>
            <a:spLocks noGrp="1"/>
          </p:cNvSpPr>
          <p:nvPr>
            <p:ph type="body" sz="half" idx="2"/>
          </p:nvPr>
        </p:nvSpPr>
        <p:spPr>
          <a:xfrm>
            <a:off x="6741367" y="932260"/>
            <a:ext cx="4814419" cy="4993480"/>
          </a:xfrm>
        </p:spPr>
        <p:txBody>
          <a:bodyPr anchor="ctr">
            <a:normAutofit fontScale="77500" lnSpcReduction="20000"/>
          </a:bodyPr>
          <a:lstStyle/>
          <a:p>
            <a:pPr>
              <a:lnSpc>
                <a:spcPct val="170000"/>
              </a:lnSpc>
            </a:pPr>
            <a:r>
              <a:rPr lang="en-US" sz="2000" b="0" i="0" cap="none" dirty="0">
                <a:solidFill>
                  <a:schemeClr val="tx1"/>
                </a:solidFill>
                <a:effectLst/>
                <a:latin typeface="gg sans"/>
              </a:rPr>
              <a:t>For our stock selection </a:t>
            </a:r>
            <a:r>
              <a:rPr lang="en-US" sz="2300" b="0" i="0" cap="none" dirty="0">
                <a:solidFill>
                  <a:schemeClr val="tx1"/>
                </a:solidFill>
                <a:effectLst/>
                <a:latin typeface="gg sans"/>
              </a:rPr>
              <a:t>strategy</a:t>
            </a:r>
            <a:r>
              <a:rPr lang="en-US" sz="2000" b="0" i="0" cap="none" dirty="0">
                <a:solidFill>
                  <a:schemeClr val="tx1"/>
                </a:solidFill>
                <a:effectLst/>
                <a:latin typeface="gg sans"/>
              </a:rPr>
              <a:t>, we adopted the diamond model, which integrates both top-down and bottom-up approaches to achieve a comprehensive analysis. The top-down approach allowed us to identify promising sectors based on macroeconomic indicators and market trends, while the bottom-up approach enabled a detailed evaluation of individual companies based on financial health, growth potential, and valuation metrics. This combined method ensures a balanced and strategic selection of stocks, enhancing the overall portfolio's performance and risk management.</a:t>
            </a:r>
            <a:endParaRPr lang="en-US" sz="2000" cap="none" dirty="0">
              <a:solidFill>
                <a:schemeClr val="tx1"/>
              </a:solidFill>
            </a:endParaRPr>
          </a:p>
        </p:txBody>
      </p:sp>
    </p:spTree>
    <p:extLst>
      <p:ext uri="{BB962C8B-B14F-4D97-AF65-F5344CB8AC3E}">
        <p14:creationId xmlns:p14="http://schemas.microsoft.com/office/powerpoint/2010/main" val="3604303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D34651-CC3A-4387-A3FB-5660B4B5E11B}"/>
              </a:ext>
            </a:extLst>
          </p:cNvPr>
          <p:cNvSpPr>
            <a:spLocks noGrp="1"/>
          </p:cNvSpPr>
          <p:nvPr>
            <p:ph type="title"/>
          </p:nvPr>
        </p:nvSpPr>
        <p:spPr>
          <a:xfrm>
            <a:off x="1680092" y="1049970"/>
            <a:ext cx="8831816" cy="1372986"/>
          </a:xfrm>
        </p:spPr>
        <p:txBody>
          <a:bodyPr/>
          <a:lstStyle/>
          <a:p>
            <a:pPr algn="ctr"/>
            <a:r>
              <a:rPr lang="en-US" dirty="0">
                <a:solidFill>
                  <a:schemeClr val="accent6">
                    <a:lumMod val="40000"/>
                    <a:lumOff val="60000"/>
                  </a:schemeClr>
                </a:solidFill>
                <a:latin typeface="gg sans"/>
              </a:rPr>
              <a:t>The T</a:t>
            </a:r>
            <a:r>
              <a:rPr lang="en-US" b="0" i="0" dirty="0">
                <a:solidFill>
                  <a:schemeClr val="accent6">
                    <a:lumMod val="40000"/>
                    <a:lumOff val="60000"/>
                  </a:schemeClr>
                </a:solidFill>
                <a:effectLst/>
                <a:latin typeface="gg sans"/>
              </a:rPr>
              <a:t>op down approach :</a:t>
            </a:r>
            <a:endParaRPr lang="en-US" dirty="0">
              <a:solidFill>
                <a:schemeClr val="accent6">
                  <a:lumMod val="40000"/>
                  <a:lumOff val="60000"/>
                </a:schemeClr>
              </a:solidFill>
            </a:endParaRPr>
          </a:p>
        </p:txBody>
      </p:sp>
      <p:sp>
        <p:nvSpPr>
          <p:cNvPr id="5" name="Text Placeholder 4">
            <a:extLst>
              <a:ext uri="{FF2B5EF4-FFF2-40B4-BE49-F238E27FC236}">
                <a16:creationId xmlns:a16="http://schemas.microsoft.com/office/drawing/2014/main" id="{9A5DCD22-327B-4B80-9CB4-F92E2C3C113F}"/>
              </a:ext>
            </a:extLst>
          </p:cNvPr>
          <p:cNvSpPr>
            <a:spLocks noGrp="1"/>
          </p:cNvSpPr>
          <p:nvPr>
            <p:ph type="body" sz="half" idx="2"/>
          </p:nvPr>
        </p:nvSpPr>
        <p:spPr>
          <a:xfrm>
            <a:off x="891988" y="3173506"/>
            <a:ext cx="10408024" cy="3155576"/>
          </a:xfrm>
        </p:spPr>
        <p:txBody>
          <a:bodyPr anchor="ctr">
            <a:normAutofit fontScale="92500"/>
          </a:bodyPr>
          <a:lstStyle/>
          <a:p>
            <a:pPr algn="ctr" fontAlgn="base">
              <a:lnSpc>
                <a:spcPct val="150000"/>
              </a:lnSpc>
            </a:pPr>
            <a:r>
              <a:rPr lang="en-US" b="0" i="0" dirty="0">
                <a:solidFill>
                  <a:schemeClr val="tx1"/>
                </a:solidFill>
                <a:effectLst>
                  <a:outerShdw blurRad="38100" dist="38100" dir="2700000" algn="tl">
                    <a:srgbClr val="000000">
                      <a:alpha val="43137"/>
                    </a:srgbClr>
                  </a:outerShdw>
                </a:effectLst>
                <a:latin typeface="Leelawadee" panose="020B0502040204020203" pitchFamily="34" charset="-34"/>
                <a:cs typeface="Leelawadee" panose="020B0502040204020203" pitchFamily="34" charset="-34"/>
              </a:rPr>
              <a:t>We analyzed Tunisia’s broader economic environment, focusing on key macroeconomic factors such as interest rates, inflation, and GDP growth. Higher interest rates benefit sectors like Financial Services, while inflation impacts consumer staples and industrials, which remain resilient. Economic growth tends to boost cyclical sectors such as consumer discretionary and automobiles during recovery phases. By examining sector performance indicators like net income growth, revenue trends, and dividend yields, we identified Food &amp; Consumer Goods, Beverages, and Financial Services as top-performing sectors.</a:t>
            </a:r>
          </a:p>
          <a:p>
            <a:pPr algn="ctr" fontAlgn="base"/>
            <a:r>
              <a:rPr lang="en-US" b="0" i="0" dirty="0">
                <a:solidFill>
                  <a:schemeClr val="tx1"/>
                </a:solidFill>
                <a:effectLst>
                  <a:outerShdw blurRad="38100" dist="38100" dir="2700000" algn="tl">
                    <a:srgbClr val="000000">
                      <a:alpha val="43137"/>
                    </a:srgbClr>
                  </a:outerShdw>
                </a:effectLst>
                <a:latin typeface="Leelawadee" panose="020B0502040204020203" pitchFamily="34" charset="-34"/>
                <a:cs typeface="Leelawadee" panose="020B0502040204020203" pitchFamily="34" charset="-34"/>
              </a:rPr>
              <a:t>From this, we identified the top-performing sectors and shortlisted 27 publicly listed companies, including some direct competitors, for further analysis.</a:t>
            </a:r>
          </a:p>
        </p:txBody>
      </p:sp>
    </p:spTree>
    <p:extLst>
      <p:ext uri="{BB962C8B-B14F-4D97-AF65-F5344CB8AC3E}">
        <p14:creationId xmlns:p14="http://schemas.microsoft.com/office/powerpoint/2010/main" val="3596335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1BC177-5B92-4D2C-BFBD-F483303330B7}"/>
              </a:ext>
            </a:extLst>
          </p:cNvPr>
          <p:cNvSpPr>
            <a:spLocks noGrp="1"/>
          </p:cNvSpPr>
          <p:nvPr>
            <p:ph type="title"/>
          </p:nvPr>
        </p:nvSpPr>
        <p:spPr>
          <a:xfrm>
            <a:off x="1683169" y="4996820"/>
            <a:ext cx="8825659" cy="973673"/>
          </a:xfrm>
        </p:spPr>
        <p:txBody>
          <a:bodyPr anchor="ctr">
            <a:normAutofit/>
          </a:bodyPr>
          <a:lstStyle/>
          <a:p>
            <a:pPr algn="ctr"/>
            <a:r>
              <a:rPr lang="en-US" sz="4000" dirty="0">
                <a:solidFill>
                  <a:schemeClr val="accent6">
                    <a:lumMod val="40000"/>
                    <a:lumOff val="60000"/>
                  </a:schemeClr>
                </a:solidFill>
                <a:effectLst>
                  <a:outerShdw blurRad="38100" dist="38100" dir="2700000" algn="tl">
                    <a:srgbClr val="000000">
                      <a:alpha val="43137"/>
                    </a:srgbClr>
                  </a:outerShdw>
                </a:effectLst>
                <a:latin typeface="gg sans"/>
              </a:rPr>
              <a:t>T</a:t>
            </a:r>
            <a:r>
              <a:rPr lang="en-US" sz="4000" b="0" i="0" dirty="0">
                <a:solidFill>
                  <a:schemeClr val="accent6">
                    <a:lumMod val="40000"/>
                    <a:lumOff val="60000"/>
                  </a:schemeClr>
                </a:solidFill>
                <a:effectLst>
                  <a:outerShdw blurRad="38100" dist="38100" dir="2700000" algn="tl">
                    <a:srgbClr val="000000">
                      <a:alpha val="43137"/>
                    </a:srgbClr>
                  </a:outerShdw>
                </a:effectLst>
                <a:latin typeface="gg sans"/>
              </a:rPr>
              <a:t>he</a:t>
            </a:r>
            <a:r>
              <a:rPr lang="en-US" sz="3200" b="0" i="0" dirty="0">
                <a:solidFill>
                  <a:schemeClr val="accent6">
                    <a:lumMod val="40000"/>
                    <a:lumOff val="60000"/>
                  </a:schemeClr>
                </a:solidFill>
                <a:effectLst>
                  <a:outerShdw blurRad="38100" dist="38100" dir="2700000" algn="tl">
                    <a:srgbClr val="000000">
                      <a:alpha val="43137"/>
                    </a:srgbClr>
                  </a:outerShdw>
                </a:effectLst>
                <a:latin typeface="gg sans"/>
              </a:rPr>
              <a:t> </a:t>
            </a:r>
            <a:r>
              <a:rPr lang="en-US" sz="4000" b="0" i="0" dirty="0">
                <a:solidFill>
                  <a:schemeClr val="accent6">
                    <a:lumMod val="40000"/>
                    <a:lumOff val="60000"/>
                  </a:schemeClr>
                </a:solidFill>
                <a:effectLst>
                  <a:outerShdw blurRad="38100" dist="38100" dir="2700000" algn="tl">
                    <a:srgbClr val="000000">
                      <a:alpha val="43137"/>
                    </a:srgbClr>
                  </a:outerShdw>
                </a:effectLst>
                <a:latin typeface="gg sans"/>
              </a:rPr>
              <a:t>Bottom-Up Approach : </a:t>
            </a:r>
            <a:endParaRPr lang="en-US" sz="3200" dirty="0">
              <a:solidFill>
                <a:schemeClr val="accent6">
                  <a:lumMod val="40000"/>
                  <a:lumOff val="60000"/>
                </a:schemeClr>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9BF6718-B530-4498-A30D-7C9F1F8751E3}"/>
              </a:ext>
            </a:extLst>
          </p:cNvPr>
          <p:cNvSpPr txBox="1"/>
          <p:nvPr/>
        </p:nvSpPr>
        <p:spPr>
          <a:xfrm>
            <a:off x="1496359" y="685800"/>
            <a:ext cx="9199281" cy="4025717"/>
          </a:xfrm>
          <a:prstGeom prst="rect">
            <a:avLst/>
          </a:prstGeom>
          <a:noFill/>
        </p:spPr>
        <p:txBody>
          <a:bodyPr wrap="square" rtlCol="0">
            <a:spAutoFit/>
          </a:bodyPr>
          <a:lstStyle/>
          <a:p>
            <a:pPr algn="l" fontAlgn="base"/>
            <a:endParaRPr lang="en-US" sz="1800" b="0" i="0" dirty="0">
              <a:effectLst>
                <a:outerShdw blurRad="38100" dist="38100" dir="2700000" algn="tl">
                  <a:srgbClr val="000000">
                    <a:alpha val="43137"/>
                  </a:srgbClr>
                </a:outerShdw>
              </a:effectLst>
              <a:latin typeface="Leelawadee" panose="020B0502040204020203" pitchFamily="34" charset="-34"/>
              <a:cs typeface="Leelawadee" panose="020B0502040204020203" pitchFamily="34" charset="-34"/>
            </a:endParaRPr>
          </a:p>
          <a:p>
            <a:pPr algn="ctr" fontAlgn="base">
              <a:lnSpc>
                <a:spcPct val="160000"/>
              </a:lnSpc>
            </a:pPr>
            <a:r>
              <a:rPr lang="en-US" sz="1800" b="0" i="0" dirty="0">
                <a:effectLst>
                  <a:outerShdw blurRad="38100" dist="38100" dir="2700000" algn="tl">
                    <a:srgbClr val="000000">
                      <a:alpha val="43137"/>
                    </a:srgbClr>
                  </a:outerShdw>
                </a:effectLst>
                <a:latin typeface="Leelawadee" panose="020B0502040204020203" pitchFamily="34" charset="-34"/>
                <a:cs typeface="Leelawadee" panose="020B0502040204020203" pitchFamily="34" charset="-34"/>
              </a:rPr>
              <a:t>In this approach, we conducted both fundamental and risk analyses to select 20 stocks from a pool of 27. Fundamental Analysis: We applied key criteria including EPS, ROE, revenue growth rate (delta revenue), debt ratio, D/E ratio, and P/E ratio to assess the financial health and performance potential of each stock. Risk Analysis: We utilized beta and the Sharpe ratio to evaluate the risk-adjusted returns of the stocks, ensuring a balance between risk and expected return. These criteria helped us select 20 stocks that align with our project objective.</a:t>
            </a:r>
          </a:p>
          <a:p>
            <a:br>
              <a:rPr lang="en-US" sz="1800" b="0" i="0" dirty="0">
                <a:effectLst>
                  <a:outerShdw blurRad="38100" dist="38100" dir="2700000" algn="tl">
                    <a:srgbClr val="000000">
                      <a:alpha val="43137"/>
                    </a:srgbClr>
                  </a:outerShdw>
                </a:effectLst>
                <a:latin typeface="Leelawadee" panose="020B0502040204020203" pitchFamily="34" charset="-34"/>
                <a:cs typeface="Leelawadee" panose="020B0502040204020203" pitchFamily="34" charset="-34"/>
              </a:rPr>
            </a:br>
            <a:endParaRPr lang="en-US" sz="1800" dirty="0">
              <a:effectLst>
                <a:outerShdw blurRad="38100" dist="38100" dir="2700000" algn="tl">
                  <a:srgbClr val="000000">
                    <a:alpha val="43137"/>
                  </a:srgbClr>
                </a:outerShdw>
              </a:effectLst>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4146339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401EB73-F813-4835-8837-E785AD469451}"/>
              </a:ext>
            </a:extLst>
          </p:cNvPr>
          <p:cNvSpPr>
            <a:spLocks noGrp="1"/>
          </p:cNvSpPr>
          <p:nvPr>
            <p:ph type="ctrTitle"/>
          </p:nvPr>
        </p:nvSpPr>
        <p:spPr>
          <a:xfrm>
            <a:off x="1154955" y="1219200"/>
            <a:ext cx="8825658" cy="861420"/>
          </a:xfrm>
        </p:spPr>
        <p:txBody>
          <a:bodyPr/>
          <a:lstStyle/>
          <a:p>
            <a:r>
              <a:rPr lang="en-US" b="0" i="0" dirty="0">
                <a:solidFill>
                  <a:schemeClr val="accent6">
                    <a:lumMod val="40000"/>
                    <a:lumOff val="60000"/>
                  </a:schemeClr>
                </a:solidFill>
                <a:effectLst/>
                <a:latin typeface="gg sans"/>
              </a:rPr>
              <a:t>Statistical Analysis :</a:t>
            </a:r>
            <a:endParaRPr lang="en-US" dirty="0">
              <a:solidFill>
                <a:schemeClr val="accent6">
                  <a:lumMod val="40000"/>
                  <a:lumOff val="60000"/>
                </a:schemeClr>
              </a:solidFill>
            </a:endParaRPr>
          </a:p>
        </p:txBody>
      </p:sp>
      <p:sp>
        <p:nvSpPr>
          <p:cNvPr id="10" name="Subtitle 9">
            <a:extLst>
              <a:ext uri="{FF2B5EF4-FFF2-40B4-BE49-F238E27FC236}">
                <a16:creationId xmlns:a16="http://schemas.microsoft.com/office/drawing/2014/main" id="{8CB19A2F-CF42-4059-9FBD-822370A4F165}"/>
              </a:ext>
            </a:extLst>
          </p:cNvPr>
          <p:cNvSpPr>
            <a:spLocks noGrp="1"/>
          </p:cNvSpPr>
          <p:nvPr>
            <p:ph type="subTitle" idx="1"/>
          </p:nvPr>
        </p:nvSpPr>
        <p:spPr>
          <a:xfrm>
            <a:off x="1154955" y="2178424"/>
            <a:ext cx="8825658" cy="3460376"/>
          </a:xfrm>
        </p:spPr>
        <p:txBody>
          <a:bodyPr/>
          <a:lstStyle/>
          <a:p>
            <a:pPr>
              <a:lnSpc>
                <a:spcPct val="150000"/>
              </a:lnSpc>
            </a:pPr>
            <a:r>
              <a:rPr lang="en-US" b="0" i="0" cap="none" dirty="0">
                <a:solidFill>
                  <a:schemeClr val="bg1"/>
                </a:solidFill>
                <a:effectLst/>
                <a:latin typeface="gg sans"/>
              </a:rPr>
              <a:t>For this analysis, we used historical data over a 10-year period and calculated the daily returns for each stock. We then computed key statistical metrics, including: average return: to measure the mean performance of each stock. Standard deviation: to assess the risk and volatility of returns. Kurtosis: to analyze the distribution of returns, identifying the presence of outliers. Skewness: to evaluate the asymmetry of the return distribution. Var (value at risk): to estimate potential losses at a given confidence level. Sharpe ratio: to assess the risk-adjusted performance of each stock.</a:t>
            </a:r>
            <a:endParaRPr lang="en-US" cap="none" dirty="0">
              <a:solidFill>
                <a:schemeClr val="bg1"/>
              </a:solidFill>
            </a:endParaRPr>
          </a:p>
        </p:txBody>
      </p:sp>
    </p:spTree>
    <p:extLst>
      <p:ext uri="{BB962C8B-B14F-4D97-AF65-F5344CB8AC3E}">
        <p14:creationId xmlns:p14="http://schemas.microsoft.com/office/powerpoint/2010/main" val="1117458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2D5D27D-1B01-4D95-AC11-A3A783968F8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89140" y="1949634"/>
            <a:ext cx="9413719" cy="1911784"/>
          </a:xfrm>
          <a:prstGeom prst="roundRect">
            <a:avLst>
              <a:gd name="adj" fmla="val 8594"/>
            </a:avLst>
          </a:prstGeom>
          <a:solidFill>
            <a:srgbClr val="FFFFFF">
              <a:shade val="85000"/>
            </a:srgbClr>
          </a:solidFill>
          <a:ln>
            <a:noFill/>
          </a:ln>
          <a:effectLst>
            <a:reflection blurRad="6350" stA="50000" endA="300" endPos="38500" dist="50800" dir="5400000" sy="-100000" algn="bl" rotWithShape="0"/>
          </a:effectLst>
        </p:spPr>
      </p:pic>
      <p:sp>
        <p:nvSpPr>
          <p:cNvPr id="4" name="Title 3">
            <a:extLst>
              <a:ext uri="{FF2B5EF4-FFF2-40B4-BE49-F238E27FC236}">
                <a16:creationId xmlns:a16="http://schemas.microsoft.com/office/drawing/2014/main" id="{3CF163BA-3C56-480B-8E4B-2FCEBC677279}"/>
              </a:ext>
            </a:extLst>
          </p:cNvPr>
          <p:cNvSpPr>
            <a:spLocks noGrp="1"/>
          </p:cNvSpPr>
          <p:nvPr>
            <p:ph type="title"/>
          </p:nvPr>
        </p:nvSpPr>
        <p:spPr>
          <a:xfrm>
            <a:off x="1683169" y="297800"/>
            <a:ext cx="8825659" cy="1256948"/>
          </a:xfrm>
        </p:spPr>
        <p:txBody>
          <a:bodyPr anchor="b">
            <a:normAutofit/>
          </a:bodyPr>
          <a:lstStyle/>
          <a:p>
            <a:pPr algn="ctr"/>
            <a:r>
              <a:rPr lang="en-US" sz="4400" b="0" i="0" spc="300" dirty="0">
                <a:solidFill>
                  <a:schemeClr val="tx1">
                    <a:lumMod val="95000"/>
                    <a:lumOff val="5000"/>
                  </a:schemeClr>
                </a:solidFill>
                <a:effectLst>
                  <a:outerShdw blurRad="38100" dist="38100" dir="2700000" algn="tl">
                    <a:srgbClr val="000000">
                      <a:alpha val="43137"/>
                    </a:srgbClr>
                  </a:outerShdw>
                </a:effectLst>
                <a:latin typeface="gg sans"/>
              </a:rPr>
              <a:t>Final Stock Selection :</a:t>
            </a:r>
            <a:endParaRPr lang="en-US" spc="300" dirty="0">
              <a:solidFill>
                <a:schemeClr val="tx1">
                  <a:lumMod val="95000"/>
                  <a:lumOff val="5000"/>
                </a:schemeClr>
              </a:solidFill>
              <a:effectLst>
                <a:outerShdw blurRad="38100" dist="38100" dir="2700000" algn="tl">
                  <a:srgbClr val="000000">
                    <a:alpha val="43137"/>
                  </a:srgbClr>
                </a:outerShdw>
              </a:effectLst>
            </a:endParaRPr>
          </a:p>
        </p:txBody>
      </p:sp>
      <p:sp>
        <p:nvSpPr>
          <p:cNvPr id="6" name="Text Placeholder 5">
            <a:extLst>
              <a:ext uri="{FF2B5EF4-FFF2-40B4-BE49-F238E27FC236}">
                <a16:creationId xmlns:a16="http://schemas.microsoft.com/office/drawing/2014/main" id="{0A56D06D-D2E2-4963-86A5-45870E6A9C50}"/>
              </a:ext>
            </a:extLst>
          </p:cNvPr>
          <p:cNvSpPr>
            <a:spLocks noGrp="1"/>
          </p:cNvSpPr>
          <p:nvPr>
            <p:ph type="body" sz="half" idx="2"/>
          </p:nvPr>
        </p:nvSpPr>
        <p:spPr>
          <a:xfrm>
            <a:off x="1265658" y="4651191"/>
            <a:ext cx="9660684" cy="1544102"/>
          </a:xfrm>
        </p:spPr>
        <p:txBody>
          <a:bodyPr anchor="ctr">
            <a:normAutofit lnSpcReduction="10000"/>
          </a:bodyPr>
          <a:lstStyle/>
          <a:p>
            <a:pPr algn="ctr">
              <a:lnSpc>
                <a:spcPct val="160000"/>
              </a:lnSpc>
            </a:pPr>
            <a:r>
              <a:rPr lang="en-US" sz="1600" b="1" i="0" dirty="0">
                <a:solidFill>
                  <a:schemeClr val="bg1"/>
                </a:solidFill>
                <a:effectLst/>
                <a:latin typeface="gg sans"/>
              </a:rPr>
              <a:t>The final stock selection of 10 stocks was based on </a:t>
            </a:r>
            <a:r>
              <a:rPr lang="en-US" sz="1600" b="1" i="1" u="sng" dirty="0">
                <a:effectLst/>
                <a:latin typeface="gg sans"/>
              </a:rPr>
              <a:t>the Sharpe ratio</a:t>
            </a:r>
            <a:r>
              <a:rPr lang="en-US" sz="1600" b="1" i="0" dirty="0">
                <a:solidFill>
                  <a:schemeClr val="bg1"/>
                </a:solidFill>
                <a:effectLst/>
                <a:latin typeface="gg sans"/>
              </a:rPr>
              <a:t>, which helped evaluate the risk-adjusted returns of each stock. Stocks with higher Sharpe ratios indicate better performance relative to their risk, ensuring a balance between return and volatility. By focusing on these metrics, we identified 10 stocks with strong risk-adjusted returns, aligning with our investment objectives.</a:t>
            </a:r>
            <a:endParaRPr lang="en-US" sz="1600" b="1" dirty="0">
              <a:solidFill>
                <a:schemeClr val="bg1"/>
              </a:solidFill>
            </a:endParaRPr>
          </a:p>
        </p:txBody>
      </p:sp>
    </p:spTree>
    <p:extLst>
      <p:ext uri="{BB962C8B-B14F-4D97-AF65-F5344CB8AC3E}">
        <p14:creationId xmlns:p14="http://schemas.microsoft.com/office/powerpoint/2010/main" val="3808709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802FE9-1194-4706-9155-3FB83D40EB6F}"/>
              </a:ext>
            </a:extLst>
          </p:cNvPr>
          <p:cNvSpPr>
            <a:spLocks noGrp="1"/>
          </p:cNvSpPr>
          <p:nvPr>
            <p:ph type="title"/>
          </p:nvPr>
        </p:nvSpPr>
        <p:spPr>
          <a:xfrm>
            <a:off x="1154954" y="1143001"/>
            <a:ext cx="3865134" cy="1089212"/>
          </a:xfrm>
        </p:spPr>
        <p:txBody>
          <a:bodyPr>
            <a:normAutofit fontScale="90000"/>
          </a:bodyPr>
          <a:lstStyle/>
          <a:p>
            <a:r>
              <a:rPr lang="en-US" b="0" i="0" dirty="0">
                <a:solidFill>
                  <a:schemeClr val="accent6">
                    <a:lumMod val="40000"/>
                    <a:lumOff val="60000"/>
                  </a:schemeClr>
                </a:solidFill>
                <a:effectLst/>
                <a:latin typeface="gg sans"/>
              </a:rPr>
              <a:t>Portfolio</a:t>
            </a:r>
            <a:br>
              <a:rPr lang="en-US" b="0" i="0" dirty="0">
                <a:solidFill>
                  <a:schemeClr val="accent6">
                    <a:lumMod val="40000"/>
                    <a:lumOff val="60000"/>
                  </a:schemeClr>
                </a:solidFill>
                <a:effectLst/>
                <a:latin typeface="gg sans"/>
              </a:rPr>
            </a:br>
            <a:r>
              <a:rPr lang="en-US" b="0" i="0" dirty="0">
                <a:solidFill>
                  <a:schemeClr val="accent6">
                    <a:lumMod val="40000"/>
                    <a:lumOff val="60000"/>
                  </a:schemeClr>
                </a:solidFill>
                <a:effectLst/>
                <a:latin typeface="gg sans"/>
              </a:rPr>
              <a:t>Optimization :</a:t>
            </a:r>
            <a:endParaRPr lang="en-US" dirty="0">
              <a:solidFill>
                <a:schemeClr val="accent6">
                  <a:lumMod val="40000"/>
                  <a:lumOff val="60000"/>
                </a:schemeClr>
              </a:solidFill>
            </a:endParaRPr>
          </a:p>
        </p:txBody>
      </p:sp>
      <p:sp>
        <p:nvSpPr>
          <p:cNvPr id="6" name="Text Placeholder 5">
            <a:extLst>
              <a:ext uri="{FF2B5EF4-FFF2-40B4-BE49-F238E27FC236}">
                <a16:creationId xmlns:a16="http://schemas.microsoft.com/office/drawing/2014/main" id="{ED6B53A3-AD1D-4F3A-9006-25048CACE63A}"/>
              </a:ext>
            </a:extLst>
          </p:cNvPr>
          <p:cNvSpPr>
            <a:spLocks noGrp="1"/>
          </p:cNvSpPr>
          <p:nvPr>
            <p:ph type="body" sz="half" idx="2"/>
          </p:nvPr>
        </p:nvSpPr>
        <p:spPr>
          <a:xfrm>
            <a:off x="1154953" y="2407025"/>
            <a:ext cx="4748305" cy="3307974"/>
          </a:xfrm>
        </p:spPr>
        <p:txBody>
          <a:bodyPr>
            <a:normAutofit/>
          </a:bodyPr>
          <a:lstStyle/>
          <a:p>
            <a:r>
              <a:rPr lang="en-US" sz="1800" b="0" i="0" dirty="0">
                <a:solidFill>
                  <a:schemeClr val="bg1"/>
                </a:solidFill>
                <a:effectLst/>
                <a:latin typeface="gg sans"/>
              </a:rPr>
              <a:t>In this step, we applied three approaches for portfolio optimization: Maximizing Return Minimizing Standard Deviation Maximizing the Sharpe Ratio (Markowitz Model) After evaluating these methods, we chose the Markowitz model, which focuses on optimizing the trade-off between risk and return. This model led to a portfolio of 9 stocks, as one of the 10 selected stocks had a weight of zero, ensuring an efficient allocation of assets.</a:t>
            </a:r>
            <a:endParaRPr lang="en-US" sz="1800" dirty="0">
              <a:solidFill>
                <a:schemeClr val="bg1"/>
              </a:solidFill>
            </a:endParaRPr>
          </a:p>
        </p:txBody>
      </p:sp>
      <p:pic>
        <p:nvPicPr>
          <p:cNvPr id="8" name="Picture 7">
            <a:extLst>
              <a:ext uri="{FF2B5EF4-FFF2-40B4-BE49-F238E27FC236}">
                <a16:creationId xmlns:a16="http://schemas.microsoft.com/office/drawing/2014/main" id="{A2F59404-800B-4C60-94DB-F2FDA3694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7021" y="1638145"/>
            <a:ext cx="4275190" cy="3581710"/>
          </a:xfrm>
          <a:prstGeom prst="rect">
            <a:avLst/>
          </a:prstGeom>
        </p:spPr>
      </p:pic>
    </p:spTree>
    <p:extLst>
      <p:ext uri="{BB962C8B-B14F-4D97-AF65-F5344CB8AC3E}">
        <p14:creationId xmlns:p14="http://schemas.microsoft.com/office/powerpoint/2010/main" val="3585261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AD6B4B4-802F-4BF3-91A8-E42D6837A050}"/>
              </a:ext>
            </a:extLst>
          </p:cNvPr>
          <p:cNvSpPr>
            <a:spLocks noGrp="1"/>
          </p:cNvSpPr>
          <p:nvPr>
            <p:ph type="title"/>
          </p:nvPr>
        </p:nvSpPr>
        <p:spPr>
          <a:xfrm>
            <a:off x="1154954" y="1143000"/>
            <a:ext cx="3865134" cy="1735667"/>
          </a:xfrm>
        </p:spPr>
        <p:txBody>
          <a:bodyPr/>
          <a:lstStyle/>
          <a:p>
            <a:r>
              <a:rPr lang="en-US" sz="3200" b="0" i="0" dirty="0">
                <a:solidFill>
                  <a:schemeClr val="accent6">
                    <a:lumMod val="60000"/>
                    <a:lumOff val="40000"/>
                  </a:schemeClr>
                </a:solidFill>
                <a:effectLst/>
                <a:latin typeface="gg sans"/>
              </a:rPr>
              <a:t>E</a:t>
            </a:r>
            <a:r>
              <a:rPr lang="en-US" sz="3200" b="0" i="0" dirty="0">
                <a:effectLst/>
                <a:latin typeface="gg sans"/>
              </a:rPr>
              <a:t>fficient</a:t>
            </a:r>
            <a:br>
              <a:rPr lang="en-US" sz="3200" b="0" i="0" dirty="0">
                <a:effectLst/>
                <a:latin typeface="gg sans"/>
              </a:rPr>
            </a:br>
            <a:r>
              <a:rPr lang="en-US" sz="3200" b="0" i="0" dirty="0">
                <a:solidFill>
                  <a:schemeClr val="accent6">
                    <a:lumMod val="60000"/>
                    <a:lumOff val="40000"/>
                  </a:schemeClr>
                </a:solidFill>
                <a:effectLst/>
                <a:latin typeface="gg sans"/>
              </a:rPr>
              <a:t>M</a:t>
            </a:r>
            <a:r>
              <a:rPr lang="en-US" sz="3200" b="0" i="0" dirty="0">
                <a:effectLst/>
                <a:latin typeface="gg sans"/>
              </a:rPr>
              <a:t>arket</a:t>
            </a:r>
            <a:br>
              <a:rPr lang="en-US" sz="3200" b="0" i="0" dirty="0">
                <a:effectLst/>
                <a:latin typeface="gg sans"/>
              </a:rPr>
            </a:br>
            <a:r>
              <a:rPr lang="en-US" sz="3200" b="0" i="0" dirty="0">
                <a:solidFill>
                  <a:schemeClr val="accent6">
                    <a:lumMod val="60000"/>
                    <a:lumOff val="40000"/>
                  </a:schemeClr>
                </a:solidFill>
                <a:effectLst/>
                <a:latin typeface="gg sans"/>
              </a:rPr>
              <a:t>F</a:t>
            </a:r>
            <a:r>
              <a:rPr lang="en-US" sz="3200" b="0" i="0" dirty="0">
                <a:effectLst/>
                <a:latin typeface="gg sans"/>
              </a:rPr>
              <a:t>rontier :</a:t>
            </a:r>
            <a:endParaRPr lang="en-US" sz="3200" dirty="0"/>
          </a:p>
        </p:txBody>
      </p:sp>
      <p:pic>
        <p:nvPicPr>
          <p:cNvPr id="17" name="Picture 16">
            <a:extLst>
              <a:ext uri="{FF2B5EF4-FFF2-40B4-BE49-F238E27FC236}">
                <a16:creationId xmlns:a16="http://schemas.microsoft.com/office/drawing/2014/main" id="{9A3B4DAF-C526-4871-B1DC-128B6967C5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143000"/>
            <a:ext cx="5352586" cy="4414837"/>
          </a:xfrm>
          <a:prstGeom prst="rect">
            <a:avLst/>
          </a:prstGeom>
          <a:ln>
            <a:noFill/>
          </a:ln>
          <a:effectLst>
            <a:outerShdw blurRad="292100" dist="139700" dir="2700000" algn="tl" rotWithShape="0">
              <a:srgbClr val="333333">
                <a:alpha val="65000"/>
              </a:srgbClr>
            </a:outerShdw>
          </a:effectLst>
        </p:spPr>
      </p:pic>
      <p:sp>
        <p:nvSpPr>
          <p:cNvPr id="7" name="Text Placeholder 6">
            <a:extLst>
              <a:ext uri="{FF2B5EF4-FFF2-40B4-BE49-F238E27FC236}">
                <a16:creationId xmlns:a16="http://schemas.microsoft.com/office/drawing/2014/main" id="{4D1AE7A5-AB8F-4A38-BD2B-B8BE4C3AFFDB}"/>
              </a:ext>
            </a:extLst>
          </p:cNvPr>
          <p:cNvSpPr>
            <a:spLocks noGrp="1"/>
          </p:cNvSpPr>
          <p:nvPr>
            <p:ph type="body" sz="half" idx="2"/>
          </p:nvPr>
        </p:nvSpPr>
        <p:spPr>
          <a:xfrm>
            <a:off x="1154953" y="2878667"/>
            <a:ext cx="4489177" cy="2836333"/>
          </a:xfrm>
        </p:spPr>
        <p:txBody>
          <a:bodyPr anchor="ctr">
            <a:normAutofit fontScale="92500" lnSpcReduction="20000"/>
          </a:bodyPr>
          <a:lstStyle/>
          <a:p>
            <a:pPr>
              <a:lnSpc>
                <a:spcPct val="150000"/>
              </a:lnSpc>
            </a:pPr>
            <a:r>
              <a:rPr lang="en-US" sz="1600" b="0" i="0" dirty="0">
                <a:solidFill>
                  <a:schemeClr val="bg1"/>
                </a:solidFill>
                <a:effectLst/>
                <a:latin typeface="gg sans"/>
              </a:rPr>
              <a:t>In this step, we focused on constructing the Efficient Market Frontier (EMF), which represents the set of portfolios offering the highest expected return for a given level of risk. By plotting various combinations of risk and return, we identified the optimal portfolio that balances risk and reward. Our selected optimal portfolio lies on the Efficient Market Frontier, reflecting the best trade-off between risk and return based on our analysis</a:t>
            </a:r>
            <a:endParaRPr lang="en-US" sz="1600" dirty="0">
              <a:solidFill>
                <a:schemeClr val="bg1"/>
              </a:solidFill>
            </a:endParaRPr>
          </a:p>
        </p:txBody>
      </p:sp>
    </p:spTree>
    <p:extLst>
      <p:ext uri="{BB962C8B-B14F-4D97-AF65-F5344CB8AC3E}">
        <p14:creationId xmlns:p14="http://schemas.microsoft.com/office/powerpoint/2010/main" val="837768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42C83F-4BCB-409B-960F-03D1DCFECB59}"/>
              </a:ext>
            </a:extLst>
          </p:cNvPr>
          <p:cNvSpPr>
            <a:spLocks noGrp="1"/>
          </p:cNvSpPr>
          <p:nvPr>
            <p:ph type="title"/>
          </p:nvPr>
        </p:nvSpPr>
        <p:spPr>
          <a:xfrm>
            <a:off x="1154954" y="973668"/>
            <a:ext cx="9878911" cy="706964"/>
          </a:xfrm>
        </p:spPr>
        <p:txBody>
          <a:bodyPr/>
          <a:lstStyle/>
          <a:p>
            <a:r>
              <a:rPr lang="en-US" dirty="0">
                <a:solidFill>
                  <a:schemeClr val="accent6">
                    <a:lumMod val="40000"/>
                    <a:lumOff val="60000"/>
                  </a:schemeClr>
                </a:solidFill>
              </a:rPr>
              <a:t>From Analysis to Execution: Portfolio Insights</a:t>
            </a:r>
          </a:p>
        </p:txBody>
      </p:sp>
      <p:sp>
        <p:nvSpPr>
          <p:cNvPr id="5" name="Text Placeholder 4">
            <a:extLst>
              <a:ext uri="{FF2B5EF4-FFF2-40B4-BE49-F238E27FC236}">
                <a16:creationId xmlns:a16="http://schemas.microsoft.com/office/drawing/2014/main" id="{ACB07EAF-F63D-4C2A-998D-218F22AB9ED7}"/>
              </a:ext>
            </a:extLst>
          </p:cNvPr>
          <p:cNvSpPr>
            <a:spLocks noGrp="1"/>
          </p:cNvSpPr>
          <p:nvPr>
            <p:ph type="body" idx="1"/>
          </p:nvPr>
        </p:nvSpPr>
        <p:spPr>
          <a:xfrm>
            <a:off x="1154954" y="2361406"/>
            <a:ext cx="3141878" cy="576262"/>
          </a:xfrm>
        </p:spPr>
        <p:txBody>
          <a:bodyPr/>
          <a:lstStyle/>
          <a:p>
            <a:r>
              <a:rPr lang="en-US" b="0" i="0" dirty="0">
                <a:effectLst/>
                <a:latin typeface="gg sans"/>
              </a:rPr>
              <a:t>Technical Analysis :</a:t>
            </a:r>
            <a:endParaRPr lang="en-US" dirty="0"/>
          </a:p>
        </p:txBody>
      </p:sp>
      <p:sp>
        <p:nvSpPr>
          <p:cNvPr id="8" name="Text Placeholder 7">
            <a:extLst>
              <a:ext uri="{FF2B5EF4-FFF2-40B4-BE49-F238E27FC236}">
                <a16:creationId xmlns:a16="http://schemas.microsoft.com/office/drawing/2014/main" id="{B01F9A3F-48E4-4655-85A0-A03D081FE234}"/>
              </a:ext>
            </a:extLst>
          </p:cNvPr>
          <p:cNvSpPr>
            <a:spLocks noGrp="1"/>
          </p:cNvSpPr>
          <p:nvPr>
            <p:ph type="body" sz="half" idx="15"/>
          </p:nvPr>
        </p:nvSpPr>
        <p:spPr>
          <a:xfrm>
            <a:off x="1142241" y="3066256"/>
            <a:ext cx="3141879" cy="3089389"/>
          </a:xfrm>
        </p:spPr>
        <p:txBody>
          <a:bodyPr>
            <a:normAutofit fontScale="92500" lnSpcReduction="20000"/>
          </a:bodyPr>
          <a:lstStyle/>
          <a:p>
            <a:r>
              <a:rPr lang="en-US" sz="1800" b="0" i="0" dirty="0">
                <a:effectLst/>
                <a:latin typeface="gg sans"/>
              </a:rPr>
              <a:t>We conducted technical analysis for each of the 10 selected stocks using the RSI (Relative Strength Index) method. This involved studying the RSI trend for each stock to identify potential overbought or oversold conditions, as well as entry and exit points. The RSI analysis helped confirm the strength or weakness of each stock’s trend, providing additional insights for portfolio management</a:t>
            </a:r>
            <a:endParaRPr lang="en-US" sz="1800" dirty="0"/>
          </a:p>
        </p:txBody>
      </p:sp>
      <p:sp>
        <p:nvSpPr>
          <p:cNvPr id="6" name="Text Placeholder 5">
            <a:extLst>
              <a:ext uri="{FF2B5EF4-FFF2-40B4-BE49-F238E27FC236}">
                <a16:creationId xmlns:a16="http://schemas.microsoft.com/office/drawing/2014/main" id="{BC4B99C0-5DE8-44CD-B0A1-848488659CFC}"/>
              </a:ext>
            </a:extLst>
          </p:cNvPr>
          <p:cNvSpPr>
            <a:spLocks noGrp="1"/>
          </p:cNvSpPr>
          <p:nvPr>
            <p:ph type="body" sz="quarter" idx="3"/>
          </p:nvPr>
        </p:nvSpPr>
        <p:spPr>
          <a:xfrm>
            <a:off x="4512720" y="2364582"/>
            <a:ext cx="3147009" cy="576262"/>
          </a:xfrm>
        </p:spPr>
        <p:txBody>
          <a:bodyPr/>
          <a:lstStyle/>
          <a:p>
            <a:r>
              <a:rPr lang="en-US" b="0" i="0" dirty="0">
                <a:effectLst/>
                <a:latin typeface="gg sans"/>
              </a:rPr>
              <a:t>Market Orders :</a:t>
            </a:r>
            <a:endParaRPr lang="en-US" dirty="0"/>
          </a:p>
        </p:txBody>
      </p:sp>
      <p:sp>
        <p:nvSpPr>
          <p:cNvPr id="9" name="Text Placeholder 8">
            <a:extLst>
              <a:ext uri="{FF2B5EF4-FFF2-40B4-BE49-F238E27FC236}">
                <a16:creationId xmlns:a16="http://schemas.microsoft.com/office/drawing/2014/main" id="{50F4E6D6-7FD5-44FF-83A5-B15405B7B661}"/>
              </a:ext>
            </a:extLst>
          </p:cNvPr>
          <p:cNvSpPr>
            <a:spLocks noGrp="1"/>
          </p:cNvSpPr>
          <p:nvPr>
            <p:ph type="body" sz="half" idx="16"/>
          </p:nvPr>
        </p:nvSpPr>
        <p:spPr>
          <a:xfrm>
            <a:off x="4512720" y="3066257"/>
            <a:ext cx="3147009" cy="3089388"/>
          </a:xfrm>
        </p:spPr>
        <p:txBody>
          <a:bodyPr>
            <a:normAutofit lnSpcReduction="10000"/>
          </a:bodyPr>
          <a:lstStyle/>
          <a:p>
            <a:r>
              <a:rPr lang="en-US" sz="1800" b="0" i="0" dirty="0">
                <a:effectLst/>
                <a:latin typeface="gg sans"/>
              </a:rPr>
              <a:t>After conducting technical analysis using the RSI method and identifying the optimal entry points for each stock, we placed all orders as market orders. This ensured timely execution based on the confirmed trends, aligning with our earlier technical analysis findings and providing a seamless execution strategy.</a:t>
            </a:r>
            <a:endParaRPr lang="en-US" sz="1800" dirty="0"/>
          </a:p>
        </p:txBody>
      </p:sp>
      <p:sp>
        <p:nvSpPr>
          <p:cNvPr id="7" name="Text Placeholder 6">
            <a:extLst>
              <a:ext uri="{FF2B5EF4-FFF2-40B4-BE49-F238E27FC236}">
                <a16:creationId xmlns:a16="http://schemas.microsoft.com/office/drawing/2014/main" id="{CFC6F8D9-6106-4922-BF70-CCC1C261AAD6}"/>
              </a:ext>
            </a:extLst>
          </p:cNvPr>
          <p:cNvSpPr>
            <a:spLocks noGrp="1"/>
          </p:cNvSpPr>
          <p:nvPr>
            <p:ph type="body" sz="quarter" idx="13"/>
          </p:nvPr>
        </p:nvSpPr>
        <p:spPr>
          <a:xfrm>
            <a:off x="7875617" y="2361406"/>
            <a:ext cx="3713315" cy="576262"/>
          </a:xfrm>
        </p:spPr>
        <p:txBody>
          <a:bodyPr/>
          <a:lstStyle/>
          <a:p>
            <a:r>
              <a:rPr lang="en-US" sz="2000" b="0" i="0" dirty="0">
                <a:effectLst/>
                <a:latin typeface="gg sans"/>
              </a:rPr>
              <a:t>Portfolio Performance Analysis :</a:t>
            </a:r>
            <a:endParaRPr lang="en-US" sz="2000" dirty="0"/>
          </a:p>
        </p:txBody>
      </p:sp>
      <p:sp>
        <p:nvSpPr>
          <p:cNvPr id="10" name="Text Placeholder 9">
            <a:extLst>
              <a:ext uri="{FF2B5EF4-FFF2-40B4-BE49-F238E27FC236}">
                <a16:creationId xmlns:a16="http://schemas.microsoft.com/office/drawing/2014/main" id="{8AAF97C8-DC94-4A38-9658-477005D0A7A0}"/>
              </a:ext>
            </a:extLst>
          </p:cNvPr>
          <p:cNvSpPr>
            <a:spLocks noGrp="1"/>
          </p:cNvSpPr>
          <p:nvPr>
            <p:ph type="body" sz="half" idx="17"/>
          </p:nvPr>
        </p:nvSpPr>
        <p:spPr>
          <a:xfrm>
            <a:off x="7888329" y="3066256"/>
            <a:ext cx="3145536" cy="3089388"/>
          </a:xfrm>
        </p:spPr>
        <p:txBody>
          <a:bodyPr>
            <a:normAutofit lnSpcReduction="10000"/>
          </a:bodyPr>
          <a:lstStyle/>
          <a:p>
            <a:r>
              <a:rPr lang="en-US" sz="1800" b="0" i="0" dirty="0">
                <a:effectLst/>
                <a:latin typeface="gg sans"/>
              </a:rPr>
              <a:t>We tracked the portfolio’s performance from December 13th to December 31st, during which we observed significant fluctuations between gains and losses. By the end of this period, the portfolio closed with a gain of 0.340 DT, highlighting its overall positive performance despite the market volatility.</a:t>
            </a:r>
            <a:endParaRPr lang="en-US" sz="1800" dirty="0"/>
          </a:p>
        </p:txBody>
      </p:sp>
    </p:spTree>
    <p:extLst>
      <p:ext uri="{BB962C8B-B14F-4D97-AF65-F5344CB8AC3E}">
        <p14:creationId xmlns:p14="http://schemas.microsoft.com/office/powerpoint/2010/main" val="1449411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452D121-B718-4EF4-859C-204659887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207" y="1885066"/>
            <a:ext cx="10715585" cy="4056056"/>
          </a:xfrm>
          <a:prstGeom prst="rect">
            <a:avLst/>
          </a:prstGeom>
          <a:ln>
            <a:noFill/>
          </a:ln>
          <a:effectLst>
            <a:outerShdw blurRad="190500" algn="tl" rotWithShape="0">
              <a:srgbClr val="000000">
                <a:alpha val="70000"/>
              </a:srgbClr>
            </a:outerShdw>
          </a:effectLst>
        </p:spPr>
      </p:pic>
      <p:sp>
        <p:nvSpPr>
          <p:cNvPr id="6" name="Title 3">
            <a:extLst>
              <a:ext uri="{FF2B5EF4-FFF2-40B4-BE49-F238E27FC236}">
                <a16:creationId xmlns:a16="http://schemas.microsoft.com/office/drawing/2014/main" id="{CD2F1251-610D-40A1-934F-C2FB9FACC930}"/>
              </a:ext>
            </a:extLst>
          </p:cNvPr>
          <p:cNvSpPr txBox="1">
            <a:spLocks/>
          </p:cNvSpPr>
          <p:nvPr/>
        </p:nvSpPr>
        <p:spPr bwMode="gray">
          <a:xfrm>
            <a:off x="588739" y="957220"/>
            <a:ext cx="11014522" cy="70696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dirty="0">
                <a:solidFill>
                  <a:schemeClr val="accent6">
                    <a:lumMod val="40000"/>
                    <a:lumOff val="60000"/>
                  </a:schemeClr>
                </a:solidFill>
              </a:rPr>
              <a:t>Portfolio state at the 31</a:t>
            </a:r>
            <a:r>
              <a:rPr lang="en-US" sz="4000" baseline="30000" dirty="0">
                <a:solidFill>
                  <a:schemeClr val="accent6">
                    <a:lumMod val="40000"/>
                    <a:lumOff val="60000"/>
                  </a:schemeClr>
                </a:solidFill>
              </a:rPr>
              <a:t>st</a:t>
            </a:r>
            <a:r>
              <a:rPr lang="en-US" sz="4000" dirty="0">
                <a:solidFill>
                  <a:schemeClr val="accent6">
                    <a:lumMod val="40000"/>
                    <a:lumOff val="60000"/>
                  </a:schemeClr>
                </a:solidFill>
              </a:rPr>
              <a:t> of December</a:t>
            </a:r>
          </a:p>
        </p:txBody>
      </p:sp>
    </p:spTree>
    <p:extLst>
      <p:ext uri="{BB962C8B-B14F-4D97-AF65-F5344CB8AC3E}">
        <p14:creationId xmlns:p14="http://schemas.microsoft.com/office/powerpoint/2010/main" val="635123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F34AECF-A3E4-40A6-90AD-713649BC67A0}"/>
              </a:ext>
            </a:extLst>
          </p:cNvPr>
          <p:cNvSpPr>
            <a:spLocks noGrp="1"/>
          </p:cNvSpPr>
          <p:nvPr>
            <p:ph type="title"/>
          </p:nvPr>
        </p:nvSpPr>
        <p:spPr>
          <a:xfrm>
            <a:off x="1154954" y="2287088"/>
            <a:ext cx="4351025" cy="2283824"/>
          </a:xfrm>
        </p:spPr>
        <p:txBody>
          <a:bodyPr/>
          <a:lstStyle/>
          <a:p>
            <a:r>
              <a:rPr lang="en-US" sz="6000" b="0" i="0" dirty="0">
                <a:solidFill>
                  <a:schemeClr val="accent6">
                    <a:lumMod val="40000"/>
                    <a:lumOff val="60000"/>
                  </a:schemeClr>
                </a:solidFill>
                <a:effectLst/>
                <a:latin typeface="gg sans"/>
              </a:rPr>
              <a:t>Rebalancing :</a:t>
            </a:r>
            <a:endParaRPr lang="en-US" sz="6000" dirty="0">
              <a:solidFill>
                <a:schemeClr val="accent6">
                  <a:lumMod val="40000"/>
                  <a:lumOff val="60000"/>
                </a:schemeClr>
              </a:solidFill>
            </a:endParaRPr>
          </a:p>
        </p:txBody>
      </p:sp>
      <p:sp>
        <p:nvSpPr>
          <p:cNvPr id="8" name="Text Placeholder 7">
            <a:extLst>
              <a:ext uri="{FF2B5EF4-FFF2-40B4-BE49-F238E27FC236}">
                <a16:creationId xmlns:a16="http://schemas.microsoft.com/office/drawing/2014/main" id="{52EFD641-5226-4A91-AE53-8909DABB4BC6}"/>
              </a:ext>
            </a:extLst>
          </p:cNvPr>
          <p:cNvSpPr>
            <a:spLocks noGrp="1"/>
          </p:cNvSpPr>
          <p:nvPr>
            <p:ph type="body" idx="1"/>
          </p:nvPr>
        </p:nvSpPr>
        <p:spPr>
          <a:xfrm>
            <a:off x="6962794" y="1062317"/>
            <a:ext cx="3757545" cy="4733365"/>
          </a:xfrm>
        </p:spPr>
        <p:txBody>
          <a:bodyPr>
            <a:normAutofit/>
          </a:bodyPr>
          <a:lstStyle/>
          <a:p>
            <a:r>
              <a:rPr lang="en-US" b="0" i="0" cap="none" dirty="0">
                <a:solidFill>
                  <a:schemeClr val="tx1"/>
                </a:solidFill>
                <a:effectLst/>
                <a:latin typeface="gg sans"/>
              </a:rPr>
              <a:t>Rebalancing was not performed due to the short investment period from </a:t>
            </a:r>
            <a:r>
              <a:rPr lang="en-US" cap="none" dirty="0">
                <a:solidFill>
                  <a:schemeClr val="tx1"/>
                </a:solidFill>
                <a:latin typeface="gg sans"/>
              </a:rPr>
              <a:t>D</a:t>
            </a:r>
            <a:r>
              <a:rPr lang="en-US" b="0" i="0" cap="none" dirty="0">
                <a:solidFill>
                  <a:schemeClr val="tx1"/>
                </a:solidFill>
                <a:effectLst/>
                <a:latin typeface="gg sans"/>
              </a:rPr>
              <a:t>ecember 13</a:t>
            </a:r>
            <a:r>
              <a:rPr lang="en-US" b="0" i="0" cap="none" baseline="30000" dirty="0">
                <a:solidFill>
                  <a:schemeClr val="tx1"/>
                </a:solidFill>
                <a:effectLst/>
                <a:latin typeface="gg sans"/>
              </a:rPr>
              <a:t>th</a:t>
            </a:r>
            <a:r>
              <a:rPr lang="en-US" b="0" i="0" cap="none" dirty="0">
                <a:solidFill>
                  <a:schemeClr val="tx1"/>
                </a:solidFill>
                <a:effectLst/>
                <a:latin typeface="gg sans"/>
              </a:rPr>
              <a:t>  to </a:t>
            </a:r>
            <a:r>
              <a:rPr lang="en-US" cap="none" dirty="0">
                <a:solidFill>
                  <a:schemeClr val="tx1"/>
                </a:solidFill>
                <a:latin typeface="gg sans"/>
              </a:rPr>
              <a:t>D</a:t>
            </a:r>
            <a:r>
              <a:rPr lang="en-US" b="0" i="0" cap="none" dirty="0">
                <a:solidFill>
                  <a:schemeClr val="tx1"/>
                </a:solidFill>
                <a:effectLst/>
                <a:latin typeface="gg sans"/>
              </a:rPr>
              <a:t>ecember 31</a:t>
            </a:r>
            <a:r>
              <a:rPr lang="en-US" b="0" i="0" cap="none" baseline="30000" dirty="0">
                <a:solidFill>
                  <a:schemeClr val="tx1"/>
                </a:solidFill>
                <a:effectLst/>
                <a:latin typeface="gg sans"/>
              </a:rPr>
              <a:t>st</a:t>
            </a:r>
            <a:r>
              <a:rPr lang="en-US" b="0" i="0" cap="none" dirty="0">
                <a:solidFill>
                  <a:schemeClr val="tx1"/>
                </a:solidFill>
                <a:effectLst/>
                <a:latin typeface="gg sans"/>
              </a:rPr>
              <a:t> . Given the limited timeframe, rebalancing would have incurred unnecessary transaction costs without significantly impacting the portfolio’s performance. This decision aligned with our strategy to minimize expenses during a short-term investment horizon.</a:t>
            </a:r>
            <a:endParaRPr lang="en-US" cap="none" dirty="0">
              <a:solidFill>
                <a:schemeClr val="tx1"/>
              </a:solidFill>
            </a:endParaRPr>
          </a:p>
        </p:txBody>
      </p:sp>
    </p:spTree>
    <p:extLst>
      <p:ext uri="{BB962C8B-B14F-4D97-AF65-F5344CB8AC3E}">
        <p14:creationId xmlns:p14="http://schemas.microsoft.com/office/powerpoint/2010/main" val="2729427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C61153-0FD5-4822-A244-F2E52770194A}"/>
              </a:ext>
            </a:extLst>
          </p:cNvPr>
          <p:cNvSpPr>
            <a:spLocks noGrp="1"/>
          </p:cNvSpPr>
          <p:nvPr>
            <p:ph type="title"/>
          </p:nvPr>
        </p:nvSpPr>
        <p:spPr>
          <a:xfrm>
            <a:off x="1683170" y="987115"/>
            <a:ext cx="8911618" cy="706964"/>
          </a:xfrm>
        </p:spPr>
        <p:txBody>
          <a:bodyPr/>
          <a:lstStyle/>
          <a:p>
            <a:pPr algn="ctr"/>
            <a:r>
              <a:rPr lang="en-US" b="0" i="0" dirty="0">
                <a:solidFill>
                  <a:schemeClr val="accent6">
                    <a:lumMod val="40000"/>
                    <a:lumOff val="60000"/>
                  </a:schemeClr>
                </a:solidFill>
                <a:effectLst/>
                <a:latin typeface="gg sans"/>
              </a:rPr>
              <a:t>Time-Weighted vs. Money-Weighted Analysis :</a:t>
            </a:r>
            <a:endParaRPr lang="en-US" dirty="0">
              <a:solidFill>
                <a:schemeClr val="accent6">
                  <a:lumMod val="40000"/>
                  <a:lumOff val="60000"/>
                </a:schemeClr>
              </a:solidFill>
            </a:endParaRPr>
          </a:p>
        </p:txBody>
      </p:sp>
      <p:sp>
        <p:nvSpPr>
          <p:cNvPr id="8" name="Content Placeholder 7">
            <a:extLst>
              <a:ext uri="{FF2B5EF4-FFF2-40B4-BE49-F238E27FC236}">
                <a16:creationId xmlns:a16="http://schemas.microsoft.com/office/drawing/2014/main" id="{6A0A52A9-F370-4FA4-AC98-069BB6C67A31}"/>
              </a:ext>
            </a:extLst>
          </p:cNvPr>
          <p:cNvSpPr>
            <a:spLocks noGrp="1"/>
          </p:cNvSpPr>
          <p:nvPr>
            <p:ph idx="1"/>
          </p:nvPr>
        </p:nvSpPr>
        <p:spPr>
          <a:xfrm>
            <a:off x="1683170" y="2603500"/>
            <a:ext cx="8825659" cy="3416300"/>
          </a:xfrm>
        </p:spPr>
        <p:txBody>
          <a:bodyPr>
            <a:normAutofit/>
          </a:bodyPr>
          <a:lstStyle/>
          <a:p>
            <a:pPr marL="0" indent="0" algn="ctr">
              <a:lnSpc>
                <a:spcPct val="150000"/>
              </a:lnSpc>
              <a:buNone/>
            </a:pPr>
            <a:r>
              <a:rPr lang="en-US" sz="2000" b="0" i="0" dirty="0">
                <a:effectLst/>
                <a:latin typeface="gg sans"/>
              </a:rPr>
              <a:t>The time-weighted return measures the portfolio's performance independent of cash flows, focusing solely on the returns generated by the investments over time. It is ideal for evaluating the manager's investment decisions. In contrast, the money-weighted return accounts for the timing and size of cash flows, reflecting the actual investor's experience. This metric emphasizes how contributions and withdrawals impact overall portfolio performance. Both methods provide complementary insights into the portfolio’s returns.</a:t>
            </a:r>
            <a:endParaRPr lang="en-US" sz="2000" dirty="0"/>
          </a:p>
        </p:txBody>
      </p:sp>
    </p:spTree>
    <p:extLst>
      <p:ext uri="{BB962C8B-B14F-4D97-AF65-F5344CB8AC3E}">
        <p14:creationId xmlns:p14="http://schemas.microsoft.com/office/powerpoint/2010/main" val="2320334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94B28-120B-4D83-8E96-2E369D9A5A18}"/>
              </a:ext>
            </a:extLst>
          </p:cNvPr>
          <p:cNvSpPr>
            <a:spLocks noGrp="1"/>
          </p:cNvSpPr>
          <p:nvPr>
            <p:ph type="title"/>
          </p:nvPr>
        </p:nvSpPr>
        <p:spPr>
          <a:xfrm>
            <a:off x="1319958" y="960221"/>
            <a:ext cx="9320305" cy="706964"/>
          </a:xfrm>
        </p:spPr>
        <p:txBody>
          <a:bodyPr/>
          <a:lstStyle/>
          <a:p>
            <a:pPr algn="ctr"/>
            <a:r>
              <a:rPr lang="en-US" dirty="0">
                <a:solidFill>
                  <a:schemeClr val="accent6">
                    <a:lumMod val="40000"/>
                    <a:lumOff val="60000"/>
                  </a:schemeClr>
                </a:solidFill>
              </a:rPr>
              <a:t>Portfolio Performance and Risk Analysis :</a:t>
            </a:r>
          </a:p>
        </p:txBody>
      </p:sp>
      <p:sp>
        <p:nvSpPr>
          <p:cNvPr id="3" name="Text Placeholder 2">
            <a:extLst>
              <a:ext uri="{FF2B5EF4-FFF2-40B4-BE49-F238E27FC236}">
                <a16:creationId xmlns:a16="http://schemas.microsoft.com/office/drawing/2014/main" id="{AA92B6B5-9815-442A-BC0E-0EE57D0B016A}"/>
              </a:ext>
            </a:extLst>
          </p:cNvPr>
          <p:cNvSpPr>
            <a:spLocks noGrp="1"/>
          </p:cNvSpPr>
          <p:nvPr>
            <p:ph type="body" idx="1"/>
          </p:nvPr>
        </p:nvSpPr>
        <p:spPr/>
        <p:txBody>
          <a:bodyPr/>
          <a:lstStyle/>
          <a:p>
            <a:r>
              <a:rPr lang="fr-FR" dirty="0"/>
              <a:t>Key Performance </a:t>
            </a:r>
            <a:r>
              <a:rPr lang="fr-FR" dirty="0" err="1"/>
              <a:t>Indicators</a:t>
            </a:r>
            <a:r>
              <a:rPr lang="fr-FR" dirty="0"/>
              <a:t> :</a:t>
            </a:r>
            <a:endParaRPr lang="en-US" dirty="0"/>
          </a:p>
        </p:txBody>
      </p:sp>
      <p:sp>
        <p:nvSpPr>
          <p:cNvPr id="4" name="Content Placeholder 3">
            <a:extLst>
              <a:ext uri="{FF2B5EF4-FFF2-40B4-BE49-F238E27FC236}">
                <a16:creationId xmlns:a16="http://schemas.microsoft.com/office/drawing/2014/main" id="{AA996019-228E-45A9-B2EE-2E856110542D}"/>
              </a:ext>
            </a:extLst>
          </p:cNvPr>
          <p:cNvSpPr>
            <a:spLocks noGrp="1"/>
          </p:cNvSpPr>
          <p:nvPr>
            <p:ph sz="half" idx="2"/>
          </p:nvPr>
        </p:nvSpPr>
        <p:spPr/>
        <p:txBody>
          <a:bodyPr anchor="ctr">
            <a:normAutofit/>
          </a:bodyPr>
          <a:lstStyle/>
          <a:p>
            <a:pPr marL="0" indent="0">
              <a:buNone/>
            </a:pPr>
            <a:r>
              <a:rPr lang="en-US" b="0" i="0" dirty="0">
                <a:effectLst/>
                <a:latin typeface="gg sans"/>
              </a:rPr>
              <a:t>We analyzed the portfolio’s performance using key metrics, including: </a:t>
            </a:r>
          </a:p>
          <a:p>
            <a:r>
              <a:rPr lang="en-US" b="0" i="0" dirty="0">
                <a:effectLst/>
                <a:latin typeface="gg sans"/>
              </a:rPr>
              <a:t>Daily Return of the Portfolio </a:t>
            </a:r>
          </a:p>
          <a:p>
            <a:r>
              <a:rPr lang="en-US" b="0" i="0" dirty="0">
                <a:effectLst/>
                <a:latin typeface="gg sans"/>
              </a:rPr>
              <a:t>Portfolio Value </a:t>
            </a:r>
          </a:p>
          <a:p>
            <a:r>
              <a:rPr lang="en-US" b="0" i="0" dirty="0">
                <a:effectLst/>
                <a:latin typeface="gg sans"/>
              </a:rPr>
              <a:t>Investment Amount </a:t>
            </a:r>
          </a:p>
          <a:p>
            <a:pPr marL="0" indent="0">
              <a:buNone/>
            </a:pPr>
            <a:r>
              <a:rPr lang="en-US" b="0" i="0" dirty="0">
                <a:effectLst/>
                <a:latin typeface="gg sans"/>
              </a:rPr>
              <a:t>Graphs of these indicators were plotted to visualize trends and assess the portfolio’s overall performance.</a:t>
            </a:r>
            <a:endParaRPr lang="en-US" dirty="0"/>
          </a:p>
        </p:txBody>
      </p:sp>
      <p:sp>
        <p:nvSpPr>
          <p:cNvPr id="5" name="Text Placeholder 4">
            <a:extLst>
              <a:ext uri="{FF2B5EF4-FFF2-40B4-BE49-F238E27FC236}">
                <a16:creationId xmlns:a16="http://schemas.microsoft.com/office/drawing/2014/main" id="{09815655-1F0E-4838-B056-A300742E0B88}"/>
              </a:ext>
            </a:extLst>
          </p:cNvPr>
          <p:cNvSpPr>
            <a:spLocks noGrp="1"/>
          </p:cNvSpPr>
          <p:nvPr>
            <p:ph type="body" sz="quarter" idx="3"/>
          </p:nvPr>
        </p:nvSpPr>
        <p:spPr/>
        <p:txBody>
          <a:bodyPr/>
          <a:lstStyle/>
          <a:p>
            <a:r>
              <a:rPr lang="fr-FR" dirty="0"/>
              <a:t>Key Risk </a:t>
            </a:r>
            <a:r>
              <a:rPr lang="fr-FR" dirty="0" err="1"/>
              <a:t>Indicators</a:t>
            </a:r>
            <a:r>
              <a:rPr lang="fr-FR" dirty="0"/>
              <a:t> :</a:t>
            </a:r>
            <a:endParaRPr lang="en-US" dirty="0"/>
          </a:p>
        </p:txBody>
      </p:sp>
      <p:sp>
        <p:nvSpPr>
          <p:cNvPr id="6" name="Content Placeholder 5">
            <a:extLst>
              <a:ext uri="{FF2B5EF4-FFF2-40B4-BE49-F238E27FC236}">
                <a16:creationId xmlns:a16="http://schemas.microsoft.com/office/drawing/2014/main" id="{9ED73059-74F4-4190-A12E-D6496572AA06}"/>
              </a:ext>
            </a:extLst>
          </p:cNvPr>
          <p:cNvSpPr>
            <a:spLocks noGrp="1"/>
          </p:cNvSpPr>
          <p:nvPr>
            <p:ph sz="quarter" idx="4"/>
          </p:nvPr>
        </p:nvSpPr>
        <p:spPr>
          <a:xfrm>
            <a:off x="6208712" y="3179762"/>
            <a:ext cx="4825159" cy="3086567"/>
          </a:xfrm>
        </p:spPr>
        <p:txBody>
          <a:bodyPr anchor="ctr">
            <a:normAutofit/>
          </a:bodyPr>
          <a:lstStyle/>
          <a:p>
            <a:pPr marL="0" indent="0">
              <a:buNone/>
            </a:pPr>
            <a:r>
              <a:rPr lang="en-US" b="0" i="0" dirty="0">
                <a:effectLst/>
                <a:latin typeface="gg sans"/>
              </a:rPr>
              <a:t>We evaluated the portfolio's risk using the following indicators: </a:t>
            </a:r>
          </a:p>
          <a:p>
            <a:r>
              <a:rPr lang="en-US" b="0" i="0" dirty="0">
                <a:effectLst/>
                <a:latin typeface="gg sans"/>
              </a:rPr>
              <a:t>Sharpe Ratio: To measure risk-adjusted returns.</a:t>
            </a:r>
          </a:p>
          <a:p>
            <a:r>
              <a:rPr lang="en-US" b="0" i="0" dirty="0">
                <a:effectLst/>
                <a:latin typeface="gg sans"/>
              </a:rPr>
              <a:t>Sortino Ratio: To focus on downside risk. </a:t>
            </a:r>
          </a:p>
          <a:p>
            <a:r>
              <a:rPr lang="en-US" b="0" i="0" dirty="0">
                <a:effectLst/>
                <a:latin typeface="gg sans"/>
              </a:rPr>
              <a:t>Beta: To assess the portfolio's market sensitivity.</a:t>
            </a:r>
          </a:p>
          <a:p>
            <a:pPr marL="0" indent="0">
              <a:buNone/>
            </a:pPr>
            <a:r>
              <a:rPr lang="en-US" b="0" i="0" dirty="0">
                <a:effectLst/>
                <a:latin typeface="gg sans"/>
              </a:rPr>
              <a:t>These metrics provided a comprehensive view of the portfolio’s risk profile.</a:t>
            </a:r>
            <a:endParaRPr lang="en-US" dirty="0"/>
          </a:p>
        </p:txBody>
      </p:sp>
      <p:cxnSp>
        <p:nvCxnSpPr>
          <p:cNvPr id="8" name="Straight Connector 7">
            <a:extLst>
              <a:ext uri="{FF2B5EF4-FFF2-40B4-BE49-F238E27FC236}">
                <a16:creationId xmlns:a16="http://schemas.microsoft.com/office/drawing/2014/main" id="{7E2C28D1-EB58-4A4D-B6FD-0767BA138484}"/>
              </a:ext>
            </a:extLst>
          </p:cNvPr>
          <p:cNvCxnSpPr/>
          <p:nvPr/>
        </p:nvCxnSpPr>
        <p:spPr>
          <a:xfrm>
            <a:off x="5980110" y="3190968"/>
            <a:ext cx="0" cy="2817626"/>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520968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C6AF-9E01-4AE8-92E3-08A8F8C24421}"/>
              </a:ext>
            </a:extLst>
          </p:cNvPr>
          <p:cNvSpPr>
            <a:spLocks noGrp="1"/>
          </p:cNvSpPr>
          <p:nvPr>
            <p:ph type="title"/>
          </p:nvPr>
        </p:nvSpPr>
        <p:spPr>
          <a:xfrm>
            <a:off x="1154954" y="1620618"/>
            <a:ext cx="4351025" cy="3616763"/>
          </a:xfrm>
        </p:spPr>
        <p:txBody>
          <a:bodyPr/>
          <a:lstStyle/>
          <a:p>
            <a:r>
              <a:rPr lang="en-US" sz="6000" b="0" i="0" dirty="0">
                <a:solidFill>
                  <a:schemeClr val="accent6">
                    <a:lumMod val="60000"/>
                    <a:lumOff val="40000"/>
                  </a:schemeClr>
                </a:solidFill>
                <a:effectLst/>
                <a:latin typeface="gg sans"/>
              </a:rPr>
              <a:t>C</a:t>
            </a:r>
            <a:r>
              <a:rPr lang="en-US" sz="6000" b="0" i="0" dirty="0">
                <a:effectLst/>
                <a:latin typeface="gg sans"/>
              </a:rPr>
              <a:t>onclusion &amp; </a:t>
            </a:r>
            <a:r>
              <a:rPr lang="en-US" sz="6000" b="0" i="0" dirty="0">
                <a:solidFill>
                  <a:schemeClr val="accent6">
                    <a:lumMod val="60000"/>
                    <a:lumOff val="40000"/>
                  </a:schemeClr>
                </a:solidFill>
                <a:effectLst/>
                <a:latin typeface="gg sans"/>
              </a:rPr>
              <a:t>P</a:t>
            </a:r>
            <a:r>
              <a:rPr lang="en-US" sz="6000" b="0" i="0" dirty="0">
                <a:effectLst/>
                <a:latin typeface="gg sans"/>
              </a:rPr>
              <a:t>erformance </a:t>
            </a:r>
            <a:r>
              <a:rPr lang="en-US" sz="6000" b="0" i="0" dirty="0">
                <a:solidFill>
                  <a:schemeClr val="accent6">
                    <a:lumMod val="60000"/>
                    <a:lumOff val="40000"/>
                  </a:schemeClr>
                </a:solidFill>
                <a:effectLst/>
                <a:latin typeface="gg sans"/>
              </a:rPr>
              <a:t>E</a:t>
            </a:r>
            <a:r>
              <a:rPr lang="en-US" sz="6000" b="0" i="0" dirty="0">
                <a:effectLst/>
                <a:latin typeface="gg sans"/>
              </a:rPr>
              <a:t>valuation :</a:t>
            </a:r>
            <a:endParaRPr lang="en-US" sz="6000" dirty="0"/>
          </a:p>
        </p:txBody>
      </p:sp>
      <p:sp>
        <p:nvSpPr>
          <p:cNvPr id="3" name="Text Placeholder 2">
            <a:extLst>
              <a:ext uri="{FF2B5EF4-FFF2-40B4-BE49-F238E27FC236}">
                <a16:creationId xmlns:a16="http://schemas.microsoft.com/office/drawing/2014/main" id="{04C5CB7F-08D6-4CA5-B692-6FFB4C33C45A}"/>
              </a:ext>
            </a:extLst>
          </p:cNvPr>
          <p:cNvSpPr>
            <a:spLocks noGrp="1"/>
          </p:cNvSpPr>
          <p:nvPr>
            <p:ph type="body" idx="1"/>
          </p:nvPr>
        </p:nvSpPr>
        <p:spPr>
          <a:xfrm>
            <a:off x="6686023" y="981338"/>
            <a:ext cx="4192648" cy="4895323"/>
          </a:xfrm>
        </p:spPr>
        <p:txBody>
          <a:bodyPr>
            <a:normAutofit/>
          </a:bodyPr>
          <a:lstStyle/>
          <a:p>
            <a:pPr>
              <a:lnSpc>
                <a:spcPct val="150000"/>
              </a:lnSpc>
            </a:pPr>
            <a:r>
              <a:rPr lang="en-US" cap="none" dirty="0">
                <a:solidFill>
                  <a:schemeClr val="tx1"/>
                </a:solidFill>
              </a:rPr>
              <a:t>The portfolio achieved a small positive return, but risk-adjusted metrics like the Sharpe and Sortino ratios were negative, indicating suboptimal returns relative to the risk taken. To enhance future performance, adjustments in sector allocation or stock selection strategies will be essential.</a:t>
            </a:r>
          </a:p>
        </p:txBody>
      </p:sp>
    </p:spTree>
    <p:extLst>
      <p:ext uri="{BB962C8B-B14F-4D97-AF65-F5344CB8AC3E}">
        <p14:creationId xmlns:p14="http://schemas.microsoft.com/office/powerpoint/2010/main" val="33124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C4549-45E7-43CF-8190-2E663B73D7F6}"/>
              </a:ext>
            </a:extLst>
          </p:cNvPr>
          <p:cNvSpPr>
            <a:spLocks noGrp="1"/>
          </p:cNvSpPr>
          <p:nvPr>
            <p:ph type="ctrTitle"/>
          </p:nvPr>
        </p:nvSpPr>
        <p:spPr/>
        <p:txBody>
          <a:bodyPr anchor="ctr"/>
          <a:lstStyle/>
          <a:p>
            <a:pPr algn="ctr"/>
            <a:r>
              <a:rPr lang="fr-FR" sz="13800" dirty="0"/>
              <a:t>THANK YOU</a:t>
            </a:r>
            <a:endParaRPr lang="en-US" sz="13800" dirty="0"/>
          </a:p>
        </p:txBody>
      </p:sp>
    </p:spTree>
    <p:extLst>
      <p:ext uri="{BB962C8B-B14F-4D97-AF65-F5344CB8AC3E}">
        <p14:creationId xmlns:p14="http://schemas.microsoft.com/office/powerpoint/2010/main" val="37946303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248</TotalTime>
  <Words>1368</Words>
  <Application>Microsoft Office PowerPoint</Application>
  <PresentationFormat>Widescreen</PresentationFormat>
  <Paragraphs>64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Century Gothic</vt:lpstr>
      <vt:lpstr>gg sans</vt:lpstr>
      <vt:lpstr>Leelawadee</vt:lpstr>
      <vt:lpstr>Times New Roman</vt:lpstr>
      <vt:lpstr>Wingdings 3</vt:lpstr>
      <vt:lpstr>Ion Boardroom</vt:lpstr>
      <vt:lpstr>PowerPoint Presentation</vt:lpstr>
      <vt:lpstr>Financial Markets Project Objective :</vt:lpstr>
      <vt:lpstr>Brokers Contacted:</vt:lpstr>
      <vt:lpstr>Brokerage choice:</vt:lpstr>
      <vt:lpstr>Stock Selection  Strategy :</vt:lpstr>
      <vt:lpstr>The Top down approach :</vt:lpstr>
      <vt:lpstr>The Bottom-Up Approach : </vt:lpstr>
      <vt:lpstr>Statistical Analysis :</vt:lpstr>
      <vt:lpstr>Final Stock Selection :</vt:lpstr>
      <vt:lpstr>Portfolio Optimization :</vt:lpstr>
      <vt:lpstr>Efficient Market Frontier :</vt:lpstr>
      <vt:lpstr>From Analysis to Execution: Portfolio Insights</vt:lpstr>
      <vt:lpstr>PowerPoint Presentation</vt:lpstr>
      <vt:lpstr>Rebalancing :</vt:lpstr>
      <vt:lpstr>Time-Weighted vs. Money-Weighted Analysis :</vt:lpstr>
      <vt:lpstr>Portfolio Performance and Risk Analysis :</vt:lpstr>
      <vt:lpstr>Conclusion &amp; Performance Evaluation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labidimohamedaziz</dc:creator>
  <cp:lastModifiedBy>arfaouieya</cp:lastModifiedBy>
  <cp:revision>29</cp:revision>
  <dcterms:created xsi:type="dcterms:W3CDTF">2025-01-02T14:01:49Z</dcterms:created>
  <dcterms:modified xsi:type="dcterms:W3CDTF">2025-01-05T13:28:29Z</dcterms:modified>
</cp:coreProperties>
</file>